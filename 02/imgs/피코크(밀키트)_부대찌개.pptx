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embeddedFontLst>
    <p:embeddedFont>
      <p:font typeface="Paperlogy"/>
      <p:regular r:id="rId19"/>
    </p:embeddedFont>
    <p:embeddedFont>
      <p:font typeface="Arial"/>
      <p:regular r:id="rId20"/>
    </p:embeddedFont>
    <p:embeddedFont>
      <p:font typeface="Urbanist"/>
      <p:regular r:id="rId21"/>
    </p:embeddedFont>
    <p:embeddedFont>
      <p:font typeface="Source Sans Pro"/>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xmlns="" Id="rId19" Type="http://schemas.openxmlformats.org/officeDocument/2006/relationships/font" Target="fonts/rId19.fntdata"/><Relationship xmlns="" Id="rId20" Type="http://schemas.openxmlformats.org/officeDocument/2006/relationships/font" Target="fonts/rId20.fntdata"/><Relationship xmlns="" Id="rId21" Type="http://schemas.openxmlformats.org/officeDocument/2006/relationships/font" Target="fonts/rId21.fntdata"/><Relationship xmlns="" Id="rId22" Type="http://schemas.openxmlformats.org/officeDocument/2006/relationships/font" Target="fonts/rId2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https://freesentation.blog/paperlogyfont#footer-background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당근은 누적 가입자 4,000만 명, 주간 이용자 1,300만 명을 기록하며 국민 앱으로 자리 잡았다. 단순한 중고 거래를 넘어 지역 생활 플랫폼으로 확장 중인 만큼, '지역 신뢰 가치'를 재정립하는 것이 이번 영상 제작의 핵심 배경입니다.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영상의 스토리가 순환구조를 이루어 일관성 있는 메시지를 전달하여 브랜드의 상징성을 15초라는 짧은 시간 안에 강력하게 시청자에게 각인시키도록 기획하였으며. 30대 사용자에게 신뢰의 이미지를 심어주는 것을 목표로 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타겟인 30대 남녀는 하루 평균 41분 이상 숏폼 콘텐츠를 소비하며, 전 연령대 중 중고 거래 판매 경험률이 가장 높은 핵심 이용층입니다. 이들은 단순한 가격 경쟁력보다 거래의 안전성과 신뢰성을 최우선 가치로 두는 특징을 보입니다. 따라서 본 영상은 원룸형 주방이라는 친숙하고 일상적인 공간을 배경으로 설정하여, 타겟층이 실제 생활에서 공감할 수 있는 현실감을 극대화하고, 당근이 제공하는 지역 기반 신뢰 서비스에 대한 긍정적 인식을 자연스럽게 강화하고자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당신의 삶과 밀접한 당근 이라는 브랜드를 대표하는 설정과 요리를 빗댄 언어 유희로 삶은 당근을 설정했다.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시각적으로는 당근의 상징색인 주황색을 적극 활용하여 브랜드 정체성을 드러낸다. 꾸며낸 연출보다는 일상적인 감성 영상미를 추구하며, 9대 16 세로형 규격에 맞춰 제작한다. 차분한 목소리 연기와 감성적인 배경음악으로 신뢰감을 더한다.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https://www.figma.com/design/1aQRjrhrzzeGFlBgxi2Tsx/%EC%98%81%EC%83%81%EC%8A%A4%ED%86%A0%EB%A6%AC%EB%B3%B4%EB%93%9C-%EB%8B%B9%EA%B7%BC-%EC%98%81%EC%83%81%EC%83%9D%EC%84%B1?node-id=2533-274&amp;t=9GyGqbq4ph92Ehd8-1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about.daangn.com/company/pr/archive/2024-%EB%8B%B9%EA%B7%BC-%EC%BB%A4%EB%AE%A4%EB%8B%88%ED%8B%B0-%EC%97%B0%EB%A7%90-%EA%B2%B0%EC%82%B0-2/"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www.trendmonitor.co.kr/tmweb/trend/allTrend/detail.do?bIdx=2437&amp;code=0201&amp;trendType=CKOREA" TargetMode="External"/><Relationship Id="rId4" Type="http://schemas.openxmlformats.org/officeDocument/2006/relationships/hyperlink" Target="https://www.trendmonitor.co.kr/tmweb/trend/etcTrend/detail.do?bIdx=76&amp;code=&amp;trendType=deepview" TargetMode="External"/><Relationship Id="rId1" Type="http://schemas.openxmlformats.org/officeDocument/2006/relationships/image" Target="../media/image-8-1.png"/><Relationship Id="rId2"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rive.google.com/file/d/16MCZZpzhUBo_iabsLXdCm_P5lnfTJXy8/view?usp=sharing"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rive.google.com/file/d/1W1VI_j1DXkRujeynlTMTbaYJsrxCi-M_/view?usp=sharing"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09600" y="1019175"/>
            <a:ext cx="7924800" cy="2957513"/>
          </a:xfrm>
          <a:prstGeom prst="rect">
            <a:avLst/>
          </a:prstGeom>
          <a:noFill/>
          <a:ln/>
        </p:spPr>
      </p:sp>
      <p:sp>
        <p:nvSpPr>
          <p:cNvPr id="4" name="Shape 1"/>
          <p:cNvSpPr/>
          <p:nvPr/>
        </p:nvSpPr>
        <p:spPr>
          <a:xfrm>
            <a:off x="609600" y="1019175"/>
            <a:ext cx="7924800" cy="228600"/>
          </a:xfrm>
          <a:prstGeom prst="rect">
            <a:avLst/>
          </a:prstGeom>
          <a:noFill/>
          <a:ln/>
        </p:spPr>
      </p:sp>
      <p:sp>
        <p:nvSpPr>
          <p:cNvPr id="5" name="Shape 2"/>
          <p:cNvSpPr/>
          <p:nvPr/>
        </p:nvSpPr>
        <p:spPr>
          <a:xfrm rot="10800000">
            <a:off x="609600" y="1133475"/>
            <a:ext cx="7143750" cy="0"/>
          </a:xfrm>
          <a:prstGeom prst="line">
            <a:avLst/>
          </a:prstGeom>
          <a:noFill/>
          <a:ln w="18097">
            <a:solidFill>
              <a:srgbClr val="000000">
                <a:alpha val="40000"/>
              </a:srgbClr>
            </a:solidFill>
            <a:prstDash val="solid"/>
          </a:ln>
        </p:spPr>
      </p:sp>
      <p:sp>
        <p:nvSpPr>
          <p:cNvPr id="6" name="Text 3"/>
          <p:cNvSpPr/>
          <p:nvPr/>
        </p:nvSpPr>
        <p:spPr>
          <a:xfrm>
            <a:off x="8062913" y="1019175"/>
            <a:ext cx="447675"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000000">
                    <a:alpha val="99000"/>
                  </a:srgbClr>
                </a:solidFill>
                <a:latin typeface="Paperlogy" pitchFamily="34" charset="0"/>
                <a:ea typeface="Paperlogy" pitchFamily="34" charset="-122"/>
                <a:cs typeface="Paperlogy" pitchFamily="34" charset="-120"/>
              </a:rPr>
              <a:t>2026</a:t>
            </a:r>
            <a:endParaRPr lang="en-US" sz="1283" dirty="0"/>
          </a:p>
        </p:txBody>
      </p:sp>
      <p:sp>
        <p:nvSpPr>
          <p:cNvPr id="7" name="Shape 4"/>
          <p:cNvSpPr/>
          <p:nvPr/>
        </p:nvSpPr>
        <p:spPr>
          <a:xfrm>
            <a:off x="609600" y="1995487"/>
            <a:ext cx="5715000" cy="1004887"/>
          </a:xfrm>
          <a:prstGeom prst="rect">
            <a:avLst/>
          </a:prstGeom>
          <a:noFill/>
          <a:ln/>
        </p:spPr>
      </p:sp>
      <p:sp>
        <p:nvSpPr>
          <p:cNvPr id="8" name="Text 5"/>
          <p:cNvSpPr/>
          <p:nvPr/>
        </p:nvSpPr>
        <p:spPr>
          <a:xfrm>
            <a:off x="609600" y="1995487"/>
            <a:ext cx="5715000"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alpha val="99000"/>
                  </a:srgbClr>
                </a:solidFill>
                <a:latin typeface="Paperlogy" pitchFamily="34" charset="0"/>
                <a:ea typeface="Paperlogy" pitchFamily="34" charset="-122"/>
                <a:cs typeface="Paperlogy" pitchFamily="34" charset="-120"/>
              </a:rPr>
              <a:t>피코크(밀키트)_ 숏폼</a:t>
            </a:r>
            <a:endParaRPr lang="en-US" sz="3420" dirty="0"/>
          </a:p>
        </p:txBody>
      </p:sp>
      <p:sp>
        <p:nvSpPr>
          <p:cNvPr id="9" name="Text 6"/>
          <p:cNvSpPr/>
          <p:nvPr/>
        </p:nvSpPr>
        <p:spPr>
          <a:xfrm>
            <a:off x="609600" y="2657475"/>
            <a:ext cx="5715000" cy="3429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Paperlogy" pitchFamily="34" charset="0"/>
                <a:ea typeface="Paperlogy" pitchFamily="34" charset="-122"/>
                <a:cs typeface="Paperlogy" pitchFamily="34" charset="-120"/>
              </a:rPr>
              <a:t>광고 영상 기획서</a:t>
            </a:r>
            <a:endParaRPr lang="en-US" sz="2138" dirty="0"/>
          </a:p>
        </p:txBody>
      </p:sp>
      <p:sp>
        <p:nvSpPr>
          <p:cNvPr id="10" name="Shape 7"/>
          <p:cNvSpPr/>
          <p:nvPr/>
        </p:nvSpPr>
        <p:spPr>
          <a:xfrm>
            <a:off x="609600" y="3748087"/>
            <a:ext cx="7924800" cy="228600"/>
          </a:xfrm>
          <a:prstGeom prst="rect">
            <a:avLst/>
          </a:prstGeom>
          <a:noFill/>
          <a:ln/>
        </p:spPr>
      </p:sp>
      <p:sp>
        <p:nvSpPr>
          <p:cNvPr id="11" name="Text 8"/>
          <p:cNvSpPr/>
          <p:nvPr/>
        </p:nvSpPr>
        <p:spPr>
          <a:xfrm>
            <a:off x="609600" y="3748087"/>
            <a:ext cx="2424113"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000000">
                    <a:alpha val="99000"/>
                  </a:srgbClr>
                </a:solidFill>
                <a:latin typeface="Paperlogy" pitchFamily="34" charset="0"/>
                <a:ea typeface="Paperlogy" pitchFamily="34" charset="-122"/>
                <a:cs typeface="Paperlogy" pitchFamily="34" charset="-120"/>
              </a:rPr>
              <a:t>Crafting a Strategic Solution</a:t>
            </a:r>
            <a:endParaRPr lang="en-US" sz="1283" dirty="0"/>
          </a:p>
        </p:txBody>
      </p:sp>
      <p:sp>
        <p:nvSpPr>
          <p:cNvPr id="12" name="Shape 9"/>
          <p:cNvSpPr/>
          <p:nvPr/>
        </p:nvSpPr>
        <p:spPr>
          <a:xfrm rot="10800000">
            <a:off x="3309938" y="3862388"/>
            <a:ext cx="5210175" cy="0"/>
          </a:xfrm>
          <a:prstGeom prst="line">
            <a:avLst/>
          </a:prstGeom>
          <a:noFill/>
          <a:ln w="18097">
            <a:solidFill>
              <a:srgbClr val="000000">
                <a:alpha val="40000"/>
              </a:srgbClr>
            </a:solidFill>
            <a:prstDash val="solid"/>
          </a:ln>
        </p:spPr>
      </p:sp>
      <p:sp>
        <p:nvSpPr>
          <p:cNvPr id="13" name="Text 10"/>
          <p:cNvSpPr/>
          <p:nvPr/>
        </p:nvSpPr>
        <p:spPr>
          <a:xfrm>
            <a:off x="8062913" y="4533900"/>
            <a:ext cx="447675"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000000">
                    <a:alpha val="99000"/>
                  </a:srgbClr>
                </a:solidFill>
                <a:latin typeface="Paperlogy" pitchFamily="34" charset="0"/>
                <a:ea typeface="Paperlogy" pitchFamily="34" charset="-122"/>
                <a:cs typeface="Paperlogy" pitchFamily="34" charset="-120"/>
              </a:rPr>
              <a:t>심진우</a:t>
            </a:r>
            <a:endParaRPr lang="en-US" sz="128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3638"/>
            <a:ext cx="2667000" cy="276225"/>
          </a:xfrm>
          <a:prstGeom prst="rect">
            <a:avLst/>
          </a:prstGeom>
          <a:noFill/>
          <a:ln/>
        </p:spPr>
        <p:txBody>
          <a:bodyPr wrap="square" lIns="0" tIns="0" rIns="0" bIns="0" rtlCol="0" anchor="ctr"/>
          <a:lstStyle/>
          <a:p>
            <a:pPr algn="l" indent="0" marL="0">
              <a:lnSpc>
                <a:spcPts val="2052"/>
              </a:lnSpc>
              <a:buNone/>
            </a:pPr>
            <a:r>
              <a:rPr lang="en-US" sz="1710" b="1" spc="-34" kern="0" dirty="0">
                <a:solidFill>
                  <a:srgbClr val="000000">
                    <a:alpha val="99000"/>
                  </a:srgbClr>
                </a:solidFill>
                <a:latin typeface="Paperlogy" pitchFamily="34" charset="0"/>
                <a:ea typeface="Paperlogy" pitchFamily="34" charset="-122"/>
                <a:cs typeface="Paperlogy" pitchFamily="34" charset="-120"/>
              </a:rPr>
              <a:t>목차</a:t>
            </a:r>
            <a:endParaRPr lang="en-US" sz="1710" dirty="0"/>
          </a:p>
        </p:txBody>
      </p:sp>
      <p:sp>
        <p:nvSpPr>
          <p:cNvPr id="3" name="Shape 1"/>
          <p:cNvSpPr/>
          <p:nvPr/>
        </p:nvSpPr>
        <p:spPr>
          <a:xfrm>
            <a:off x="4610100" y="1557338"/>
            <a:ext cx="3186113" cy="2300288"/>
          </a:xfrm>
          <a:prstGeom prst="rect">
            <a:avLst/>
          </a:prstGeom>
          <a:noFill/>
          <a:ln/>
        </p:spPr>
      </p:sp>
      <p:sp>
        <p:nvSpPr>
          <p:cNvPr id="4" name="Text 2"/>
          <p:cNvSpPr/>
          <p:nvPr/>
        </p:nvSpPr>
        <p:spPr>
          <a:xfrm>
            <a:off x="4610100" y="1557338"/>
            <a:ext cx="3186113" cy="2300288"/>
          </a:xfrm>
          <a:prstGeom prst="rect">
            <a:avLst/>
          </a:prstGeom>
          <a:noFill/>
          <a:ln/>
        </p:spPr>
        <p:txBody>
          <a:bodyPr wrap="square" lIns="0" tIns="0" rIns="0" bIns="0" rtlCol="0" anchor="t"/>
          <a:lstStyle/>
          <a:p>
            <a:pPr algn="l" marL="342900" indent="-342900">
              <a:lnSpc>
                <a:spcPts val="2462"/>
              </a:lnSpc>
              <a:buSzPct val="100000"/>
              <a:buFont typeface="+mj-lt"/>
              <a:buAutoNum type="arabicPeriod" startAt="1"/>
            </a:pPr>
            <a:r>
              <a:rPr lang="en-US" sz="1283" b="1" spc="-26" kern="0" dirty="0">
                <a:solidFill>
                  <a:srgbClr val="000000">
                    <a:alpha val="99000"/>
                  </a:srgbClr>
                </a:solidFill>
                <a:latin typeface="Paperlogy" pitchFamily="34" charset="0"/>
                <a:ea typeface="Paperlogy" pitchFamily="34" charset="-122"/>
                <a:cs typeface="Paperlogy" pitchFamily="34" charset="-120"/>
              </a:rPr>
              <a:t>프로젝트 개요</a:t>
            </a:r>
            <a:endParaRPr lang="en-US" sz="1283" dirty="0"/>
          </a:p>
          <a:p>
            <a:pPr algn="l" marL="342900" indent="-342900">
              <a:lnSpc>
                <a:spcPts val="2462"/>
              </a:lnSpc>
              <a:buSzPct val="100000"/>
              <a:buFont typeface="+mj-lt"/>
              <a:buAutoNum type="arabicPeriod" startAt="1"/>
            </a:pPr>
            <a:r>
              <a:rPr lang="en-US" sz="1283" b="1" spc="-26" kern="0" dirty="0">
                <a:solidFill>
                  <a:srgbClr val="000000">
                    <a:alpha val="99000"/>
                  </a:srgbClr>
                </a:solidFill>
                <a:latin typeface="Paperlogy" pitchFamily="34" charset="0"/>
                <a:ea typeface="Paperlogy" pitchFamily="34" charset="-122"/>
                <a:cs typeface="Paperlogy" pitchFamily="34" charset="-120"/>
              </a:rPr>
              <a:t>작업일정</a:t>
            </a:r>
            <a:endParaRPr lang="en-US" sz="1283" dirty="0"/>
          </a:p>
          <a:p>
            <a:pPr algn="l" marL="342900" indent="-342900">
              <a:lnSpc>
                <a:spcPts val="2462"/>
              </a:lnSpc>
              <a:buSzPct val="100000"/>
              <a:buFont typeface="+mj-lt"/>
              <a:buAutoNum type="arabicPeriod" startAt="1"/>
            </a:pPr>
            <a:r>
              <a:rPr lang="en-US" sz="1283" b="1" spc="-26" kern="0" dirty="0">
                <a:solidFill>
                  <a:srgbClr val="000000">
                    <a:alpha val="99000"/>
                  </a:srgbClr>
                </a:solidFill>
                <a:latin typeface="Paperlogy" pitchFamily="34" charset="0"/>
                <a:ea typeface="Paperlogy" pitchFamily="34" charset="-122"/>
                <a:cs typeface="Paperlogy" pitchFamily="34" charset="-120"/>
              </a:rPr>
              <a:t>타깃분석</a:t>
            </a:r>
            <a:endParaRPr lang="en-US" sz="1283" dirty="0"/>
          </a:p>
          <a:p>
            <a:pPr algn="l" marL="342900" indent="-342900">
              <a:lnSpc>
                <a:spcPts val="2462"/>
              </a:lnSpc>
              <a:buSzPct val="100000"/>
              <a:buFont typeface="+mj-lt"/>
              <a:buAutoNum type="arabicPeriod" startAt="1"/>
            </a:pPr>
            <a:r>
              <a:rPr lang="en-US" sz="1283" b="1" spc="-26" kern="0" dirty="0">
                <a:solidFill>
                  <a:srgbClr val="000000">
                    <a:alpha val="99000"/>
                  </a:srgbClr>
                </a:solidFill>
                <a:latin typeface="Paperlogy" pitchFamily="34" charset="0"/>
                <a:ea typeface="Paperlogy" pitchFamily="34" charset="-122"/>
                <a:cs typeface="Paperlogy" pitchFamily="34" charset="-120"/>
              </a:rPr>
              <a:t>슬로건</a:t>
            </a:r>
            <a:endParaRPr lang="en-US" sz="1283" dirty="0"/>
          </a:p>
          <a:p>
            <a:pPr algn="l" marL="342900" indent="-342900">
              <a:lnSpc>
                <a:spcPts val="2462"/>
              </a:lnSpc>
              <a:buSzPct val="100000"/>
              <a:buFont typeface="+mj-lt"/>
              <a:buAutoNum type="arabicPeriod" startAt="1"/>
            </a:pPr>
            <a:r>
              <a:rPr lang="en-US" sz="1283" b="1" spc="-26" kern="0" dirty="0">
                <a:solidFill>
                  <a:srgbClr val="000000">
                    <a:alpha val="99000"/>
                  </a:srgbClr>
                </a:solidFill>
                <a:latin typeface="Paperlogy" pitchFamily="34" charset="0"/>
                <a:ea typeface="Paperlogy" pitchFamily="34" charset="-122"/>
                <a:cs typeface="Paperlogy" pitchFamily="34" charset="-120"/>
              </a:rPr>
              <a:t>콘셉트</a:t>
            </a:r>
            <a:endParaRPr lang="en-US" sz="1283" dirty="0"/>
          </a:p>
          <a:p>
            <a:pPr algn="l" marL="342900" indent="-342900">
              <a:lnSpc>
                <a:spcPts val="2462"/>
              </a:lnSpc>
              <a:buSzPct val="100000"/>
              <a:buFont typeface="+mj-lt"/>
              <a:buAutoNum type="arabicPeriod" startAt="1"/>
            </a:pPr>
            <a:r>
              <a:rPr lang="en-US" sz="1283" b="1" spc="-26" kern="0" dirty="0">
                <a:solidFill>
                  <a:srgbClr val="000000">
                    <a:alpha val="99000"/>
                  </a:srgbClr>
                </a:solidFill>
                <a:latin typeface="Paperlogy" pitchFamily="34" charset="0"/>
                <a:ea typeface="Paperlogy" pitchFamily="34" charset="-122"/>
                <a:cs typeface="Paperlogy" pitchFamily="34" charset="-120"/>
              </a:rPr>
              <a:t>스토리보드</a:t>
            </a:r>
            <a:endParaRPr lang="en-US" sz="1283" dirty="0"/>
          </a:p>
          <a:p>
            <a:pPr algn="l" marL="342900" indent="-342900">
              <a:lnSpc>
                <a:spcPts val="2462"/>
              </a:lnSpc>
              <a:buSzPct val="100000"/>
              <a:buFont typeface="+mj-lt"/>
              <a:buAutoNum type="arabicPeriod" startAt="1"/>
            </a:pPr>
            <a:r>
              <a:rPr lang="en-US" sz="1283" b="1" spc="-26" kern="0" dirty="0">
                <a:solidFill>
                  <a:srgbClr val="000000">
                    <a:alpha val="99000"/>
                  </a:srgbClr>
                </a:solidFill>
                <a:latin typeface="Paperlogy" pitchFamily="34" charset="0"/>
                <a:ea typeface="Paperlogy" pitchFamily="34" charset="-122"/>
                <a:cs typeface="Paperlogy" pitchFamily="34" charset="-120"/>
              </a:rPr>
              <a:t>최종결과</a:t>
            </a:r>
            <a:endParaRPr lang="en-US" sz="128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300288"/>
            <a:ext cx="5715000" cy="547688"/>
          </a:xfrm>
          <a:prstGeom prst="rect">
            <a:avLst/>
          </a:prstGeom>
          <a:noFill/>
          <a:ln/>
        </p:spPr>
        <p:txBody>
          <a:bodyPr wrap="square" lIns="0" tIns="0" rIns="0" bIns="0" rtlCol="0" anchor="ctr"/>
          <a:lstStyle/>
          <a:p>
            <a:pPr algn="l" marL="342900" indent="-342900">
              <a:lnSpc>
                <a:spcPts val="4104"/>
              </a:lnSpc>
              <a:buSzPct val="100000"/>
              <a:buFont typeface="+mj-lt"/>
              <a:buAutoNum type="arabicPeriod" startAt="1"/>
            </a:pPr>
            <a:r>
              <a:rPr lang="en-US" sz="3420" b="1" spc="-68" kern="0" dirty="0">
                <a:solidFill>
                  <a:srgbClr val="000000">
                    <a:alpha val="99000"/>
                  </a:srgbClr>
                </a:solidFill>
                <a:latin typeface="Paperlogy" pitchFamily="34" charset="0"/>
                <a:ea typeface="Paperlogy" pitchFamily="34" charset="-122"/>
                <a:cs typeface="Paperlogy" pitchFamily="34" charset="-120"/>
              </a:rPr>
              <a:t>프로젝트 개요</a:t>
            </a:r>
            <a:endParaRPr lang="en-US" sz="34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09600" y="609600"/>
            <a:ext cx="3238500" cy="276225"/>
          </a:xfrm>
          <a:prstGeom prst="rect">
            <a:avLst/>
          </a:prstGeom>
          <a:noFill/>
          <a:ln/>
        </p:spPr>
      </p:sp>
      <p:sp>
        <p:nvSpPr>
          <p:cNvPr id="4" name="Text 1"/>
          <p:cNvSpPr/>
          <p:nvPr/>
        </p:nvSpPr>
        <p:spPr>
          <a:xfrm>
            <a:off x="609600" y="609600"/>
            <a:ext cx="3238500" cy="276225"/>
          </a:xfrm>
          <a:prstGeom prst="rect">
            <a:avLst/>
          </a:prstGeom>
          <a:noFill/>
          <a:ln/>
        </p:spPr>
        <p:txBody>
          <a:bodyPr wrap="square" lIns="0" tIns="0" rIns="0" bIns="0" rtlCol="0" anchor="t"/>
          <a:lstStyle/>
          <a:p>
            <a:pPr algn="l" indent="0" marL="0">
              <a:lnSpc>
                <a:spcPts val="2052"/>
              </a:lnSpc>
              <a:buNone/>
            </a:pPr>
            <a:r>
              <a:rPr lang="en-US" sz="1710" b="1" spc="-34" kern="0" dirty="0">
                <a:solidFill>
                  <a:srgbClr val="000000">
                    <a:alpha val="99000"/>
                  </a:srgbClr>
                </a:solidFill>
                <a:latin typeface="Paperlogy" pitchFamily="34" charset="0"/>
                <a:ea typeface="Paperlogy" pitchFamily="34" charset="-122"/>
                <a:cs typeface="Paperlogy" pitchFamily="34" charset="-120"/>
              </a:rPr>
              <a:t>배경</a:t>
            </a:r>
            <a:endParaRPr lang="en-US" sz="1710" dirty="0"/>
          </a:p>
        </p:txBody>
      </p:sp>
      <p:pic>
        <p:nvPicPr>
          <p:cNvPr id="5" name="Image 0" descr="preencoded.png">    </p:cNvPr>
          <p:cNvPicPr>
            <a:picLocks noChangeAspect="1"/>
          </p:cNvPicPr>
          <p:nvPr/>
        </p:nvPicPr>
        <p:blipFill>
          <a:blip r:embed="rId1"/>
          <a:srcRect l="0" r="0" t="0" b="0"/>
          <a:stretch/>
        </p:blipFill>
        <p:spPr>
          <a:xfrm>
            <a:off x="4271963" y="2181225"/>
            <a:ext cx="4138613" cy="2328863"/>
          </a:xfrm>
          <a:prstGeom prst="rect">
            <a:avLst/>
          </a:prstGeom>
        </p:spPr>
      </p:pic>
      <p:pic>
        <p:nvPicPr>
          <p:cNvPr id="6" name="Image 1" descr="preencoded.png">    </p:cNvPr>
          <p:cNvPicPr>
            <a:picLocks noChangeAspect="1"/>
          </p:cNvPicPr>
          <p:nvPr/>
        </p:nvPicPr>
        <p:blipFill>
          <a:blip r:embed="rId2"/>
          <a:srcRect l="0" r="0" t="0" b="0"/>
          <a:stretch/>
        </p:blipFill>
        <p:spPr>
          <a:xfrm>
            <a:off x="3509963" y="1038225"/>
            <a:ext cx="3024188" cy="2338388"/>
          </a:xfrm>
          <a:prstGeom prst="rect">
            <a:avLst/>
          </a:prstGeom>
        </p:spPr>
      </p:pic>
      <p:sp>
        <p:nvSpPr>
          <p:cNvPr id="7" name="Text 2"/>
          <p:cNvSpPr/>
          <p:nvPr/>
        </p:nvSpPr>
        <p:spPr>
          <a:xfrm>
            <a:off x="428625" y="3152775"/>
            <a:ext cx="3238500" cy="1095375"/>
          </a:xfrm>
          <a:prstGeom prst="rect">
            <a:avLst/>
          </a:prstGeom>
          <a:noFill/>
          <a:ln/>
        </p:spPr>
        <p:txBody>
          <a:bodyPr wrap="square" lIns="0" tIns="0" rIns="0" bIns="0" rtlCol="0" anchor="b"/>
          <a:lstStyle/>
          <a:p>
            <a:pPr algn="r" indent="0" marL="0">
              <a:lnSpc>
                <a:spcPts val="4104"/>
              </a:lnSpc>
              <a:buNone/>
            </a:pPr>
            <a:r>
              <a:rPr lang="en-US" sz="3420" b="1" spc="-68" kern="0" dirty="0">
                <a:solidFill>
                  <a:srgbClr val="000000">
                    <a:alpha val="99000"/>
                  </a:srgbClr>
                </a:solidFill>
                <a:latin typeface="Paperlogy" pitchFamily="34" charset="0"/>
                <a:ea typeface="Paperlogy" pitchFamily="34" charset="-122"/>
                <a:cs typeface="Paperlogy" pitchFamily="34" charset="-120"/>
              </a:rPr>
              <a:t>확장하는 당근</a:t>
            </a:r>
            <a:endParaRPr lang="en-US" sz="3420" dirty="0"/>
          </a:p>
          <a:p>
            <a:pPr algn="r" indent="0" marL="0">
              <a:lnSpc>
                <a:spcPts val="4104"/>
              </a:lnSpc>
              <a:buNone/>
            </a:pPr>
            <a:r>
              <a:rPr lang="en-US" sz="3420" b="1" spc="-68" kern="0" dirty="0">
                <a:solidFill>
                  <a:srgbClr val="000000">
                    <a:alpha val="99000"/>
                  </a:srgbClr>
                </a:solidFill>
                <a:latin typeface="Paperlogy" pitchFamily="34" charset="0"/>
                <a:ea typeface="Paperlogy" pitchFamily="34" charset="-122"/>
                <a:cs typeface="Paperlogy" pitchFamily="34" charset="-120"/>
              </a:rPr>
              <a:t>신뢰 가치 재정립</a:t>
            </a:r>
            <a:endParaRPr lang="en-US" sz="3420" dirty="0"/>
          </a:p>
        </p:txBody>
      </p:sp>
      <p:sp>
        <p:nvSpPr>
          <p:cNvPr id="8" name="Text 3"/>
          <p:cNvSpPr/>
          <p:nvPr/>
        </p:nvSpPr>
        <p:spPr>
          <a:xfrm>
            <a:off x="2047875" y="4638675"/>
            <a:ext cx="7096125" cy="266700"/>
          </a:xfrm>
          <a:prstGeom prst="rect">
            <a:avLst/>
          </a:prstGeom>
          <a:noFill/>
          <a:ln/>
        </p:spPr>
        <p:txBody>
          <a:bodyPr wrap="square" lIns="0" tIns="0" rIns="0" bIns="0" rtlCol="0" anchor="t"/>
          <a:lstStyle/>
          <a:p>
            <a:pPr indent="0" marL="0">
              <a:lnSpc>
                <a:spcPts val="998"/>
              </a:lnSpc>
              <a:buNone/>
            </a:pPr>
            <a:r>
              <a:rPr lang="en-US" sz="713" u="sng" dirty="0">
                <a:solidFill>
                  <a:srgbClr val="000000">
                    <a:alpha val="99000"/>
                  </a:srgbClr>
                </a:solidFill>
                <a:latin typeface="Paperlogy" pitchFamily="34" charset="0"/>
                <a:ea typeface="Paperlogy" pitchFamily="34" charset="-122"/>
                <a:cs typeface="Paperlogy"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https://about.daangn.com/company/pr/archive/2024-%EB%8B%B9%EA%B7%BC-%EC%BB%A4%EB%AE%A4%EB%8B%88%ED%8B%B0-%EC%97%B0%EB%A7%90-%EA%B2%B0%EC%82%B0-2/</a:t>
            </a:r>
            <a:endParaRPr lang="en-US" sz="7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3614738" y="933450"/>
            <a:ext cx="4919663" cy="3276600"/>
          </a:xfrm>
          <a:prstGeom prst="rect">
            <a:avLst/>
          </a:prstGeom>
          <a:noFill/>
          <a:ln/>
        </p:spPr>
      </p:sp>
      <p:sp>
        <p:nvSpPr>
          <p:cNvPr id="4" name="Shape 1"/>
          <p:cNvSpPr/>
          <p:nvPr/>
        </p:nvSpPr>
        <p:spPr>
          <a:xfrm>
            <a:off x="3614738" y="933450"/>
            <a:ext cx="4919663" cy="3276600"/>
          </a:xfrm>
          <a:prstGeom prst="rect">
            <a:avLst/>
          </a:prstGeom>
          <a:noFill/>
          <a:ln/>
        </p:spPr>
      </p:sp>
      <p:sp>
        <p:nvSpPr>
          <p:cNvPr id="5" name="Shape 2"/>
          <p:cNvSpPr/>
          <p:nvPr/>
        </p:nvSpPr>
        <p:spPr>
          <a:xfrm>
            <a:off x="3614738" y="933450"/>
            <a:ext cx="3271838" cy="3276600"/>
          </a:xfrm>
          <a:prstGeom prst="ellipse">
            <a:avLst/>
          </a:prstGeom>
          <a:solidFill>
            <a:srgbClr val="FFFFFF"/>
          </a:solidFill>
          <a:ln w="18097">
            <a:solidFill>
              <a:srgbClr val="000000"/>
            </a:solidFill>
            <a:prstDash val="solid"/>
          </a:ln>
        </p:spPr>
      </p:sp>
      <p:sp>
        <p:nvSpPr>
          <p:cNvPr id="6" name="Shape 3"/>
          <p:cNvSpPr/>
          <p:nvPr/>
        </p:nvSpPr>
        <p:spPr>
          <a:xfrm>
            <a:off x="5262563" y="933450"/>
            <a:ext cx="3271838" cy="3276600"/>
          </a:xfrm>
          <a:prstGeom prst="ellipse">
            <a:avLst/>
          </a:prstGeom>
          <a:solidFill>
            <a:srgbClr val="000000"/>
          </a:solidFill>
          <a:ln w="18097">
            <a:solidFill>
              <a:srgbClr val="000000"/>
            </a:solidFill>
            <a:prstDash val="solid"/>
          </a:ln>
        </p:spPr>
      </p:sp>
      <p:pic>
        <p:nvPicPr>
          <p:cNvPr id="7" name="Image 0" descr="preencoded.png">    </p:cNvPr>
          <p:cNvPicPr>
            <a:picLocks noChangeAspect="1"/>
          </p:cNvPicPr>
          <p:nvPr/>
        </p:nvPicPr>
        <p:blipFill>
          <a:blip r:embed="rId1"/>
          <a:srcRect l="0" r="0" t="0" b="0"/>
          <a:stretch/>
        </p:blipFill>
        <p:spPr>
          <a:xfrm>
            <a:off x="5262563" y="1156091"/>
            <a:ext cx="1643063" cy="2853388"/>
          </a:xfrm>
          <a:prstGeom prst="rect">
            <a:avLst/>
          </a:prstGeom>
        </p:spPr>
      </p:pic>
      <p:sp>
        <p:nvSpPr>
          <p:cNvPr id="8" name="Text 4"/>
          <p:cNvSpPr/>
          <p:nvPr/>
        </p:nvSpPr>
        <p:spPr>
          <a:xfrm>
            <a:off x="3957638" y="2181225"/>
            <a:ext cx="1147763" cy="781050"/>
          </a:xfrm>
          <a:prstGeom prst="rect">
            <a:avLst/>
          </a:prstGeom>
          <a:noFill/>
          <a:ln/>
        </p:spPr>
        <p:txBody>
          <a:bodyPr wrap="square" lIns="0" tIns="0" rIns="0" bIns="0" rtlCol="0" anchor="ctr"/>
          <a:lstStyle/>
          <a:p>
            <a:pPr algn="ctr"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순환구조</a:t>
            </a:r>
            <a:endParaRPr lang="en-US" sz="1069" dirty="0"/>
          </a:p>
          <a:p>
            <a:pPr algn="ctr"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스토리텔링을</a:t>
            </a:r>
            <a:endParaRPr lang="en-US" sz="1069" dirty="0"/>
          </a:p>
          <a:p>
            <a:pPr algn="ctr"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통한 브랜드 메시지</a:t>
            </a:r>
            <a:endParaRPr lang="en-US" sz="1069" dirty="0"/>
          </a:p>
          <a:p>
            <a:pPr algn="ctr"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일관성 확보 </a:t>
            </a:r>
            <a:endParaRPr lang="en-US" sz="1069" dirty="0"/>
          </a:p>
        </p:txBody>
      </p:sp>
      <p:sp>
        <p:nvSpPr>
          <p:cNvPr id="9" name="Text 5"/>
          <p:cNvSpPr/>
          <p:nvPr/>
        </p:nvSpPr>
        <p:spPr>
          <a:xfrm>
            <a:off x="5500688" y="2376488"/>
            <a:ext cx="1147763" cy="390525"/>
          </a:xfrm>
          <a:prstGeom prst="rect">
            <a:avLst/>
          </a:prstGeom>
          <a:noFill/>
          <a:ln/>
        </p:spPr>
        <p:txBody>
          <a:bodyPr wrap="square" lIns="0" tIns="0" rIns="0" bIns="0" rtlCol="0" anchor="ctr"/>
          <a:lstStyle/>
          <a:p>
            <a:pPr algn="ctr"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믿을수 있는</a:t>
            </a:r>
            <a:endParaRPr lang="en-US" sz="1069" dirty="0"/>
          </a:p>
          <a:p>
            <a:pPr algn="ctr"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이웃연결</a:t>
            </a:r>
            <a:endParaRPr lang="en-US" sz="1069" dirty="0"/>
          </a:p>
        </p:txBody>
      </p:sp>
      <p:sp>
        <p:nvSpPr>
          <p:cNvPr id="10" name="Text 6"/>
          <p:cNvSpPr/>
          <p:nvPr/>
        </p:nvSpPr>
        <p:spPr>
          <a:xfrm>
            <a:off x="7043738" y="2281238"/>
            <a:ext cx="1147763" cy="585788"/>
          </a:xfrm>
          <a:prstGeom prst="rect">
            <a:avLst/>
          </a:prstGeom>
          <a:noFill/>
          <a:ln/>
        </p:spPr>
        <p:txBody>
          <a:bodyPr wrap="square" lIns="0" tIns="0" rIns="0" bIns="0" rtlCol="0" anchor="ctr"/>
          <a:lstStyle/>
          <a:p>
            <a:pPr algn="ctr" indent="0" marL="0">
              <a:lnSpc>
                <a:spcPts val="1453"/>
              </a:lnSpc>
              <a:buNone/>
            </a:pPr>
            <a:r>
              <a:rPr lang="en-US" sz="1069" spc="-11" kern="0" dirty="0">
                <a:solidFill>
                  <a:srgbClr val="FFFFFF">
                    <a:alpha val="99000"/>
                  </a:srgbClr>
                </a:solidFill>
                <a:latin typeface="Paperlogy" pitchFamily="34" charset="0"/>
                <a:ea typeface="Paperlogy" pitchFamily="34" charset="-122"/>
                <a:cs typeface="Paperlogy" pitchFamily="34" charset="-120"/>
              </a:rPr>
              <a:t>집중 네이밍</a:t>
            </a:r>
            <a:endParaRPr lang="en-US" sz="1069" dirty="0"/>
          </a:p>
          <a:p>
            <a:pPr algn="ctr" indent="0" marL="0">
              <a:lnSpc>
                <a:spcPts val="1453"/>
              </a:lnSpc>
              <a:buNone/>
            </a:pPr>
            <a:r>
              <a:rPr lang="en-US" sz="1069" spc="-11" kern="0" dirty="0">
                <a:solidFill>
                  <a:srgbClr val="FFFFFF">
                    <a:alpha val="99000"/>
                  </a:srgbClr>
                </a:solidFill>
                <a:latin typeface="Paperlogy" pitchFamily="34" charset="0"/>
                <a:ea typeface="Paperlogy" pitchFamily="34" charset="-122"/>
                <a:cs typeface="Paperlogy" pitchFamily="34" charset="-120"/>
              </a:rPr>
              <a:t>노출로 브랜드 각인</a:t>
            </a:r>
            <a:endParaRPr lang="en-US" sz="1069" dirty="0"/>
          </a:p>
          <a:p>
            <a:pPr algn="ctr" indent="0" marL="0">
              <a:lnSpc>
                <a:spcPts val="1453"/>
              </a:lnSpc>
              <a:buNone/>
            </a:pPr>
            <a:r>
              <a:rPr lang="en-US" sz="1069" spc="-11" kern="0" dirty="0">
                <a:solidFill>
                  <a:srgbClr val="FFFFFF">
                    <a:alpha val="99000"/>
                  </a:srgbClr>
                </a:solidFill>
                <a:latin typeface="Paperlogy" pitchFamily="34" charset="0"/>
                <a:ea typeface="Paperlogy" pitchFamily="34" charset="-122"/>
                <a:cs typeface="Paperlogy" pitchFamily="34" charset="-120"/>
              </a:rPr>
              <a:t>극대화</a:t>
            </a:r>
            <a:endParaRPr lang="en-US" sz="1069" dirty="0"/>
          </a:p>
        </p:txBody>
      </p:sp>
      <p:sp>
        <p:nvSpPr>
          <p:cNvPr id="11" name="Shape 7"/>
          <p:cNvSpPr/>
          <p:nvPr/>
        </p:nvSpPr>
        <p:spPr>
          <a:xfrm>
            <a:off x="609600" y="657225"/>
            <a:ext cx="2667000" cy="276225"/>
          </a:xfrm>
          <a:prstGeom prst="rect">
            <a:avLst/>
          </a:prstGeom>
          <a:noFill/>
          <a:ln/>
        </p:spPr>
      </p:sp>
      <p:sp>
        <p:nvSpPr>
          <p:cNvPr id="12" name="Text 8"/>
          <p:cNvSpPr/>
          <p:nvPr/>
        </p:nvSpPr>
        <p:spPr>
          <a:xfrm>
            <a:off x="609600" y="657225"/>
            <a:ext cx="2667000" cy="276225"/>
          </a:xfrm>
          <a:prstGeom prst="rect">
            <a:avLst/>
          </a:prstGeom>
          <a:noFill/>
          <a:ln/>
        </p:spPr>
        <p:txBody>
          <a:bodyPr wrap="square" lIns="0" tIns="0" rIns="0" bIns="0" rtlCol="0" anchor="t"/>
          <a:lstStyle/>
          <a:p>
            <a:pPr algn="l" indent="0" marL="0">
              <a:lnSpc>
                <a:spcPts val="2052"/>
              </a:lnSpc>
              <a:buNone/>
            </a:pPr>
            <a:r>
              <a:rPr lang="en-US" sz="1710" b="1" spc="-34" kern="0" dirty="0">
                <a:solidFill>
                  <a:srgbClr val="000000">
                    <a:alpha val="99000"/>
                  </a:srgbClr>
                </a:solidFill>
                <a:latin typeface="Paperlogy" pitchFamily="34" charset="0"/>
                <a:ea typeface="Paperlogy" pitchFamily="34" charset="-122"/>
                <a:cs typeface="Paperlogy" pitchFamily="34" charset="-120"/>
              </a:rPr>
              <a:t>목적</a:t>
            </a:r>
            <a:endParaRPr lang="en-US" sz="17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00300"/>
            <a:ext cx="3143250" cy="342900"/>
          </a:xfrm>
          <a:prstGeom prst="rect">
            <a:avLst/>
          </a:prstGeom>
          <a:noFill/>
          <a:ln/>
        </p:spPr>
        <p:txBody>
          <a:bodyPr wrap="square" lIns="0" tIns="0" rIns="0" bIns="0" rtlCol="0" anchor="ctr"/>
          <a:lstStyle/>
          <a:p>
            <a:pPr algn="l" marL="342900" indent="-342900">
              <a:lnSpc>
                <a:spcPts val="2565"/>
              </a:lnSpc>
              <a:buSzPct val="100000"/>
              <a:buFont typeface="+mj-lt"/>
              <a:buAutoNum type="arabicPeriod" startAt="1"/>
            </a:pPr>
            <a:r>
              <a:rPr lang="en-US" sz="2138" b="1" spc="-47" kern="0" dirty="0">
                <a:solidFill>
                  <a:srgbClr val="000000">
                    <a:alpha val="99000"/>
                  </a:srgbClr>
                </a:solidFill>
                <a:latin typeface="Paperlogy" pitchFamily="34" charset="0"/>
                <a:ea typeface="Paperlogy" pitchFamily="34" charset="-122"/>
                <a:cs typeface="Paperlogy" pitchFamily="34" charset="-120"/>
              </a:rPr>
              <a:t>작업일정</a:t>
            </a:r>
            <a:endParaRPr lang="en-US" sz="2138" dirty="0"/>
          </a:p>
        </p:txBody>
      </p:sp>
      <p:sp>
        <p:nvSpPr>
          <p:cNvPr id="3" name="Shape 1"/>
          <p:cNvSpPr/>
          <p:nvPr/>
        </p:nvSpPr>
        <p:spPr>
          <a:xfrm>
            <a:off x="4572000" y="528638"/>
            <a:ext cx="4333875" cy="4533539"/>
          </a:xfrm>
          <a:prstGeom prst="rect">
            <a:avLst/>
          </a:prstGeom>
          <a:solidFill>
            <a:srgbClr val="F9FAFB"/>
          </a:solidFill>
          <a:ln/>
        </p:spPr>
      </p:sp>
      <p:sp>
        <p:nvSpPr>
          <p:cNvPr id="4" name="Shape 2"/>
          <p:cNvSpPr/>
          <p:nvPr/>
        </p:nvSpPr>
        <p:spPr>
          <a:xfrm>
            <a:off x="4759868" y="769408"/>
            <a:ext cx="5872" cy="399299"/>
          </a:xfrm>
          <a:prstGeom prst="rect">
            <a:avLst/>
          </a:prstGeom>
          <a:noFill/>
          <a:ln/>
        </p:spPr>
      </p:sp>
      <p:pic>
        <p:nvPicPr>
          <p:cNvPr id="5" name="Image 0" descr="preencoded.png">    </p:cNvPr>
          <p:cNvPicPr>
            <a:picLocks noChangeAspect="1"/>
          </p:cNvPicPr>
          <p:nvPr/>
        </p:nvPicPr>
        <p:blipFill>
          <a:blip r:embed="rId1"/>
          <a:srcRect l="0" r="0" t="0" b="0"/>
          <a:stretch/>
        </p:blipFill>
        <p:spPr>
          <a:xfrm>
            <a:off x="4759868" y="769408"/>
            <a:ext cx="5874" cy="211430"/>
          </a:xfrm>
          <a:prstGeom prst="rect">
            <a:avLst/>
          </a:prstGeom>
        </p:spPr>
      </p:pic>
      <p:sp>
        <p:nvSpPr>
          <p:cNvPr id="6" name="Shape 3"/>
          <p:cNvSpPr/>
          <p:nvPr/>
        </p:nvSpPr>
        <p:spPr>
          <a:xfrm>
            <a:off x="4759868" y="1027806"/>
            <a:ext cx="5872" cy="140902"/>
          </a:xfrm>
          <a:prstGeom prst="rect">
            <a:avLst/>
          </a:prstGeom>
          <a:noFill/>
          <a:ln/>
        </p:spPr>
      </p:sp>
      <p:sp>
        <p:nvSpPr>
          <p:cNvPr id="7" name="Text 4"/>
          <p:cNvSpPr/>
          <p:nvPr/>
        </p:nvSpPr>
        <p:spPr>
          <a:xfrm>
            <a:off x="4759868" y="727415"/>
            <a:ext cx="590550" cy="142875"/>
          </a:xfrm>
          <a:prstGeom prst="rect">
            <a:avLst/>
          </a:prstGeom>
          <a:noFill/>
          <a:ln/>
        </p:spPr>
        <p:txBody>
          <a:bodyPr wrap="square" lIns="0" tIns="0" rIns="0" bIns="0" rtlCol="0" anchor="t"/>
          <a:lstStyle/>
          <a:p>
            <a:pPr algn="l" indent="0" marL="0">
              <a:lnSpc>
                <a:spcPts val="1054"/>
              </a:lnSpc>
              <a:buNone/>
            </a:pPr>
            <a:r>
              <a:rPr lang="en-US" sz="703" dirty="0">
                <a:solidFill>
                  <a:srgbClr val="717182">
                    <a:alpha val="99000"/>
                  </a:srgbClr>
                </a:solidFill>
                <a:latin typeface="Arial" pitchFamily="34" charset="0"/>
                <a:ea typeface="Arial" pitchFamily="34" charset="-122"/>
                <a:cs typeface="Arial" pitchFamily="34" charset="-120"/>
              </a:rPr>
              <a:t>총 제작일 : 5일</a:t>
            </a:r>
            <a:endParaRPr lang="en-US" sz="703" dirty="0"/>
          </a:p>
        </p:txBody>
      </p:sp>
      <p:sp>
        <p:nvSpPr>
          <p:cNvPr id="8" name="Shape 5"/>
          <p:cNvSpPr/>
          <p:nvPr/>
        </p:nvSpPr>
        <p:spPr>
          <a:xfrm>
            <a:off x="4759919" y="1098266"/>
            <a:ext cx="3834716" cy="522649"/>
          </a:xfrm>
          <a:prstGeom prst="roundRect">
            <a:avLst>
              <a:gd name="adj" fmla="val 30202"/>
            </a:avLst>
          </a:prstGeom>
          <a:solidFill>
            <a:srgbClr val="FFFFFF"/>
          </a:solidFill>
          <a:ln w="4728">
            <a:solidFill>
              <a:srgbClr val="000000">
                <a:alpha val="10000"/>
              </a:srgbClr>
            </a:solidFill>
            <a:prstDash val="solid"/>
          </a:ln>
        </p:spPr>
      </p:sp>
      <p:sp>
        <p:nvSpPr>
          <p:cNvPr id="9" name="Shape 6"/>
          <p:cNvSpPr/>
          <p:nvPr/>
        </p:nvSpPr>
        <p:spPr>
          <a:xfrm>
            <a:off x="4858829" y="1197177"/>
            <a:ext cx="616608" cy="158556"/>
          </a:xfrm>
          <a:prstGeom prst="rect">
            <a:avLst/>
          </a:prstGeom>
          <a:noFill/>
          <a:ln/>
        </p:spPr>
      </p:sp>
      <p:sp>
        <p:nvSpPr>
          <p:cNvPr id="10" name="Text 7"/>
          <p:cNvSpPr/>
          <p:nvPr/>
        </p:nvSpPr>
        <p:spPr>
          <a:xfrm>
            <a:off x="4858829" y="1197177"/>
            <a:ext cx="614363" cy="161925"/>
          </a:xfrm>
          <a:prstGeom prst="rect">
            <a:avLst/>
          </a:prstGeom>
          <a:noFill/>
          <a:ln/>
        </p:spPr>
        <p:txBody>
          <a:bodyPr wrap="square" lIns="0" tIns="0" rIns="0" bIns="0" rtlCol="0" anchor="t"/>
          <a:lstStyle/>
          <a:p>
            <a:pPr algn="l" indent="0" marL="0">
              <a:lnSpc>
                <a:spcPts val="1186"/>
              </a:lnSpc>
              <a:buNone/>
            </a:pPr>
            <a:r>
              <a:rPr lang="en-US" sz="791" dirty="0">
                <a:solidFill>
                  <a:srgbClr val="0A0A0A">
                    <a:alpha val="99000"/>
                  </a:srgbClr>
                </a:solidFill>
                <a:latin typeface="Arial" pitchFamily="34" charset="0"/>
                <a:ea typeface="Arial" pitchFamily="34" charset="-122"/>
                <a:cs typeface="Arial" pitchFamily="34" charset="-120"/>
              </a:rPr>
              <a:t>작업 카테고리</a:t>
            </a:r>
            <a:endParaRPr lang="en-US" sz="791" dirty="0"/>
          </a:p>
        </p:txBody>
      </p:sp>
      <p:sp>
        <p:nvSpPr>
          <p:cNvPr id="11" name="Shape 8"/>
          <p:cNvSpPr/>
          <p:nvPr/>
        </p:nvSpPr>
        <p:spPr>
          <a:xfrm>
            <a:off x="4858829" y="1414458"/>
            <a:ext cx="3564583" cy="123322"/>
          </a:xfrm>
          <a:prstGeom prst="rect">
            <a:avLst/>
          </a:prstGeom>
          <a:noFill/>
          <a:ln/>
        </p:spPr>
      </p:sp>
      <p:sp>
        <p:nvSpPr>
          <p:cNvPr id="12" name="Shape 9"/>
          <p:cNvSpPr/>
          <p:nvPr/>
        </p:nvSpPr>
        <p:spPr>
          <a:xfrm>
            <a:off x="4863773" y="1419329"/>
            <a:ext cx="830791" cy="93934"/>
          </a:xfrm>
          <a:prstGeom prst="rect">
            <a:avLst/>
          </a:prstGeom>
          <a:noFill/>
          <a:ln/>
        </p:spPr>
      </p:sp>
      <p:pic>
        <p:nvPicPr>
          <p:cNvPr id="13" name="Image 1" descr="preencoded.png">    </p:cNvPr>
          <p:cNvPicPr>
            <a:picLocks noChangeAspect="1"/>
          </p:cNvPicPr>
          <p:nvPr/>
        </p:nvPicPr>
        <p:blipFill>
          <a:blip r:embed="rId2"/>
          <a:srcRect l="0" r="0" t="0" b="0"/>
          <a:stretch/>
        </p:blipFill>
        <p:spPr>
          <a:xfrm>
            <a:off x="4863773" y="1419329"/>
            <a:ext cx="93934" cy="93934"/>
          </a:xfrm>
          <a:prstGeom prst="rect">
            <a:avLst/>
          </a:prstGeom>
        </p:spPr>
      </p:pic>
      <p:sp>
        <p:nvSpPr>
          <p:cNvPr id="14" name="Shape 10"/>
          <p:cNvSpPr/>
          <p:nvPr/>
        </p:nvSpPr>
        <p:spPr>
          <a:xfrm>
            <a:off x="5004676" y="1419329"/>
            <a:ext cx="689890" cy="93934"/>
          </a:xfrm>
          <a:prstGeom prst="rect">
            <a:avLst/>
          </a:prstGeom>
          <a:noFill/>
          <a:ln/>
        </p:spPr>
      </p:sp>
      <p:sp>
        <p:nvSpPr>
          <p:cNvPr id="15" name="Text 11"/>
          <p:cNvSpPr/>
          <p:nvPr/>
        </p:nvSpPr>
        <p:spPr>
          <a:xfrm>
            <a:off x="5004676" y="1419329"/>
            <a:ext cx="689890" cy="93934"/>
          </a:xfrm>
          <a:prstGeom prst="rect">
            <a:avLst/>
          </a:prstGeom>
          <a:noFill/>
          <a:ln/>
        </p:spPr>
        <p:txBody>
          <a:bodyPr wrap="square" lIns="0" tIns="0" rIns="0" bIns="0" rtlCol="0" anchor="t"/>
          <a:lstStyle/>
          <a:p>
            <a:pPr algn="l" indent="0" marL="0">
              <a:lnSpc>
                <a:spcPts val="879"/>
              </a:lnSpc>
              <a:buNone/>
            </a:pPr>
            <a:r>
              <a:rPr lang="en-US" sz="615" dirty="0">
                <a:solidFill>
                  <a:srgbClr val="0A0A0A">
                    <a:alpha val="99000"/>
                  </a:srgbClr>
                </a:solidFill>
                <a:latin typeface="Arial" pitchFamily="34" charset="0"/>
                <a:ea typeface="Arial" pitchFamily="34" charset="-122"/>
                <a:cs typeface="Arial" pitchFamily="34" charset="-120"/>
              </a:rPr>
              <a:t>기획/프리프로덕션</a:t>
            </a:r>
            <a:endParaRPr lang="en-US" sz="615" dirty="0"/>
          </a:p>
        </p:txBody>
      </p:sp>
      <p:sp>
        <p:nvSpPr>
          <p:cNvPr id="16" name="Shape 12"/>
          <p:cNvSpPr/>
          <p:nvPr/>
        </p:nvSpPr>
        <p:spPr>
          <a:xfrm>
            <a:off x="5788502" y="1419329"/>
            <a:ext cx="305287" cy="93934"/>
          </a:xfrm>
          <a:prstGeom prst="rect">
            <a:avLst/>
          </a:prstGeom>
          <a:noFill/>
          <a:ln/>
        </p:spPr>
      </p:sp>
      <p:pic>
        <p:nvPicPr>
          <p:cNvPr id="17" name="Image 2" descr="preencoded.png">    </p:cNvPr>
          <p:cNvPicPr>
            <a:picLocks noChangeAspect="1"/>
          </p:cNvPicPr>
          <p:nvPr/>
        </p:nvPicPr>
        <p:blipFill>
          <a:blip r:embed="rId3"/>
          <a:srcRect l="0" r="0" t="0" b="0"/>
          <a:stretch/>
        </p:blipFill>
        <p:spPr>
          <a:xfrm>
            <a:off x="5788502" y="1419329"/>
            <a:ext cx="93934" cy="93934"/>
          </a:xfrm>
          <a:prstGeom prst="rect">
            <a:avLst/>
          </a:prstGeom>
        </p:spPr>
      </p:pic>
      <p:sp>
        <p:nvSpPr>
          <p:cNvPr id="18" name="Shape 13"/>
          <p:cNvSpPr/>
          <p:nvPr/>
        </p:nvSpPr>
        <p:spPr>
          <a:xfrm>
            <a:off x="5929406" y="1419329"/>
            <a:ext cx="164385" cy="93934"/>
          </a:xfrm>
          <a:prstGeom prst="rect">
            <a:avLst/>
          </a:prstGeom>
          <a:noFill/>
          <a:ln/>
        </p:spPr>
      </p:sp>
      <p:sp>
        <p:nvSpPr>
          <p:cNvPr id="19" name="Text 14"/>
          <p:cNvSpPr/>
          <p:nvPr/>
        </p:nvSpPr>
        <p:spPr>
          <a:xfrm>
            <a:off x="5929406" y="1419329"/>
            <a:ext cx="164385" cy="93934"/>
          </a:xfrm>
          <a:prstGeom prst="rect">
            <a:avLst/>
          </a:prstGeom>
          <a:noFill/>
          <a:ln/>
        </p:spPr>
        <p:txBody>
          <a:bodyPr wrap="square" lIns="0" tIns="0" rIns="0" bIns="0" rtlCol="0" anchor="t"/>
          <a:lstStyle/>
          <a:p>
            <a:pPr algn="l" indent="0" marL="0">
              <a:lnSpc>
                <a:spcPts val="879"/>
              </a:lnSpc>
              <a:buNone/>
            </a:pPr>
            <a:r>
              <a:rPr lang="en-US" sz="615" dirty="0">
                <a:solidFill>
                  <a:srgbClr val="0A0A0A">
                    <a:alpha val="99000"/>
                  </a:srgbClr>
                </a:solidFill>
                <a:latin typeface="Arial" pitchFamily="34" charset="0"/>
                <a:ea typeface="Arial" pitchFamily="34" charset="-122"/>
                <a:cs typeface="Arial" pitchFamily="34" charset="-120"/>
              </a:rPr>
              <a:t>촬영</a:t>
            </a:r>
            <a:endParaRPr lang="en-US" sz="615" dirty="0"/>
          </a:p>
        </p:txBody>
      </p:sp>
      <p:sp>
        <p:nvSpPr>
          <p:cNvPr id="20" name="Shape 15"/>
          <p:cNvSpPr/>
          <p:nvPr/>
        </p:nvSpPr>
        <p:spPr>
          <a:xfrm>
            <a:off x="6187729" y="1419329"/>
            <a:ext cx="305287" cy="93934"/>
          </a:xfrm>
          <a:prstGeom prst="rect">
            <a:avLst/>
          </a:prstGeom>
          <a:noFill/>
          <a:ln/>
        </p:spPr>
      </p:sp>
      <p:pic>
        <p:nvPicPr>
          <p:cNvPr id="21" name="Image 3" descr="preencoded.png">    </p:cNvPr>
          <p:cNvPicPr>
            <a:picLocks noChangeAspect="1"/>
          </p:cNvPicPr>
          <p:nvPr/>
        </p:nvPicPr>
        <p:blipFill>
          <a:blip r:embed="rId4"/>
          <a:srcRect l="0" r="0" t="0" b="0"/>
          <a:stretch/>
        </p:blipFill>
        <p:spPr>
          <a:xfrm>
            <a:off x="6187729" y="1419329"/>
            <a:ext cx="93934" cy="93934"/>
          </a:xfrm>
          <a:prstGeom prst="rect">
            <a:avLst/>
          </a:prstGeom>
        </p:spPr>
      </p:pic>
      <p:sp>
        <p:nvSpPr>
          <p:cNvPr id="22" name="Shape 16"/>
          <p:cNvSpPr/>
          <p:nvPr/>
        </p:nvSpPr>
        <p:spPr>
          <a:xfrm>
            <a:off x="6328632" y="1419329"/>
            <a:ext cx="164385" cy="93934"/>
          </a:xfrm>
          <a:prstGeom prst="rect">
            <a:avLst/>
          </a:prstGeom>
          <a:noFill/>
          <a:ln/>
        </p:spPr>
      </p:sp>
      <p:sp>
        <p:nvSpPr>
          <p:cNvPr id="23" name="Text 17"/>
          <p:cNvSpPr/>
          <p:nvPr/>
        </p:nvSpPr>
        <p:spPr>
          <a:xfrm>
            <a:off x="6328632" y="1419329"/>
            <a:ext cx="164385" cy="93934"/>
          </a:xfrm>
          <a:prstGeom prst="rect">
            <a:avLst/>
          </a:prstGeom>
          <a:noFill/>
          <a:ln/>
        </p:spPr>
        <p:txBody>
          <a:bodyPr wrap="square" lIns="0" tIns="0" rIns="0" bIns="0" rtlCol="0" anchor="t"/>
          <a:lstStyle/>
          <a:p>
            <a:pPr algn="l" indent="0" marL="0">
              <a:lnSpc>
                <a:spcPts val="879"/>
              </a:lnSpc>
              <a:buNone/>
            </a:pPr>
            <a:r>
              <a:rPr lang="en-US" sz="615" dirty="0">
                <a:solidFill>
                  <a:srgbClr val="0A0A0A">
                    <a:alpha val="99000"/>
                  </a:srgbClr>
                </a:solidFill>
                <a:latin typeface="Arial" pitchFamily="34" charset="0"/>
                <a:ea typeface="Arial" pitchFamily="34" charset="-122"/>
                <a:cs typeface="Arial" pitchFamily="34" charset="-120"/>
              </a:rPr>
              <a:t>편집</a:t>
            </a:r>
            <a:endParaRPr lang="en-US" sz="615" dirty="0"/>
          </a:p>
        </p:txBody>
      </p:sp>
      <p:sp>
        <p:nvSpPr>
          <p:cNvPr id="24" name="Shape 18"/>
          <p:cNvSpPr/>
          <p:nvPr/>
        </p:nvSpPr>
        <p:spPr>
          <a:xfrm>
            <a:off x="6586947" y="1419329"/>
            <a:ext cx="584291" cy="93934"/>
          </a:xfrm>
          <a:prstGeom prst="rect">
            <a:avLst/>
          </a:prstGeom>
          <a:noFill/>
          <a:ln/>
        </p:spPr>
      </p:sp>
      <p:pic>
        <p:nvPicPr>
          <p:cNvPr id="25" name="Image 4" descr="preencoded.png">    </p:cNvPr>
          <p:cNvPicPr>
            <a:picLocks noChangeAspect="1"/>
          </p:cNvPicPr>
          <p:nvPr/>
        </p:nvPicPr>
        <p:blipFill>
          <a:blip r:embed="rId5"/>
          <a:srcRect l="0" r="0" t="0" b="0"/>
          <a:stretch/>
        </p:blipFill>
        <p:spPr>
          <a:xfrm>
            <a:off x="6586947" y="1419329"/>
            <a:ext cx="93934" cy="93934"/>
          </a:xfrm>
          <a:prstGeom prst="rect">
            <a:avLst/>
          </a:prstGeom>
        </p:spPr>
      </p:pic>
      <p:sp>
        <p:nvSpPr>
          <p:cNvPr id="26" name="Shape 19"/>
          <p:cNvSpPr/>
          <p:nvPr/>
        </p:nvSpPr>
        <p:spPr>
          <a:xfrm>
            <a:off x="6727845" y="1419329"/>
            <a:ext cx="443389" cy="93934"/>
          </a:xfrm>
          <a:prstGeom prst="rect">
            <a:avLst/>
          </a:prstGeom>
          <a:noFill/>
          <a:ln/>
        </p:spPr>
      </p:sp>
      <p:sp>
        <p:nvSpPr>
          <p:cNvPr id="27" name="Text 20"/>
          <p:cNvSpPr/>
          <p:nvPr/>
        </p:nvSpPr>
        <p:spPr>
          <a:xfrm>
            <a:off x="6727845" y="1419329"/>
            <a:ext cx="443389" cy="93934"/>
          </a:xfrm>
          <a:prstGeom prst="rect">
            <a:avLst/>
          </a:prstGeom>
          <a:noFill/>
          <a:ln/>
        </p:spPr>
        <p:txBody>
          <a:bodyPr wrap="square" lIns="0" tIns="0" rIns="0" bIns="0" rtlCol="0" anchor="t"/>
          <a:lstStyle/>
          <a:p>
            <a:pPr algn="l" indent="0" marL="0">
              <a:lnSpc>
                <a:spcPts val="879"/>
              </a:lnSpc>
              <a:buNone/>
            </a:pPr>
            <a:r>
              <a:rPr lang="en-US" sz="615" dirty="0">
                <a:solidFill>
                  <a:srgbClr val="0A0A0A">
                    <a:alpha val="99000"/>
                  </a:srgbClr>
                </a:solidFill>
                <a:latin typeface="Arial" pitchFamily="34" charset="0"/>
                <a:ea typeface="Arial" pitchFamily="34" charset="-122"/>
                <a:cs typeface="Arial" pitchFamily="34" charset="-120"/>
              </a:rPr>
              <a:t>사운드/음향</a:t>
            </a:r>
            <a:endParaRPr lang="en-US" sz="615" dirty="0"/>
          </a:p>
        </p:txBody>
      </p:sp>
      <p:sp>
        <p:nvSpPr>
          <p:cNvPr id="28" name="Shape 21"/>
          <p:cNvSpPr/>
          <p:nvPr/>
        </p:nvSpPr>
        <p:spPr>
          <a:xfrm>
            <a:off x="7265170" y="1419329"/>
            <a:ext cx="562440" cy="93934"/>
          </a:xfrm>
          <a:prstGeom prst="rect">
            <a:avLst/>
          </a:prstGeom>
          <a:noFill/>
          <a:ln/>
        </p:spPr>
      </p:sp>
      <p:pic>
        <p:nvPicPr>
          <p:cNvPr id="29" name="Image 5" descr="preencoded.png">    </p:cNvPr>
          <p:cNvPicPr>
            <a:picLocks noChangeAspect="1"/>
          </p:cNvPicPr>
          <p:nvPr/>
        </p:nvPicPr>
        <p:blipFill>
          <a:blip r:embed="rId6"/>
          <a:srcRect l="0" r="0" t="0" b="0"/>
          <a:stretch/>
        </p:blipFill>
        <p:spPr>
          <a:xfrm>
            <a:off x="7265170" y="1419329"/>
            <a:ext cx="93934" cy="93934"/>
          </a:xfrm>
          <a:prstGeom prst="rect">
            <a:avLst/>
          </a:prstGeom>
        </p:spPr>
      </p:pic>
      <p:sp>
        <p:nvSpPr>
          <p:cNvPr id="30" name="Shape 22"/>
          <p:cNvSpPr/>
          <p:nvPr/>
        </p:nvSpPr>
        <p:spPr>
          <a:xfrm>
            <a:off x="7406074" y="1419329"/>
            <a:ext cx="421539" cy="93934"/>
          </a:xfrm>
          <a:prstGeom prst="rect">
            <a:avLst/>
          </a:prstGeom>
          <a:noFill/>
          <a:ln/>
        </p:spPr>
      </p:sp>
      <p:sp>
        <p:nvSpPr>
          <p:cNvPr id="31" name="Text 23"/>
          <p:cNvSpPr/>
          <p:nvPr/>
        </p:nvSpPr>
        <p:spPr>
          <a:xfrm>
            <a:off x="7406074" y="1419329"/>
            <a:ext cx="411072" cy="93934"/>
          </a:xfrm>
          <a:prstGeom prst="rect">
            <a:avLst/>
          </a:prstGeom>
          <a:noFill/>
          <a:ln/>
        </p:spPr>
        <p:txBody>
          <a:bodyPr wrap="square" lIns="0" tIns="0" rIns="0" bIns="0" rtlCol="0" anchor="t"/>
          <a:lstStyle/>
          <a:p>
            <a:pPr algn="l" indent="0" marL="0">
              <a:lnSpc>
                <a:spcPts val="879"/>
              </a:lnSpc>
              <a:buNone/>
            </a:pPr>
            <a:r>
              <a:rPr lang="en-US" sz="615" dirty="0">
                <a:solidFill>
                  <a:srgbClr val="0A0A0A">
                    <a:alpha val="99000"/>
                  </a:srgbClr>
                </a:solidFill>
                <a:latin typeface="Arial" pitchFamily="34" charset="0"/>
                <a:ea typeface="Arial" pitchFamily="34" charset="-122"/>
                <a:cs typeface="Arial" pitchFamily="34" charset="-120"/>
              </a:rPr>
              <a:t>그래픽/VFX</a:t>
            </a:r>
            <a:endParaRPr lang="en-US" sz="615" dirty="0"/>
          </a:p>
        </p:txBody>
      </p:sp>
      <p:sp>
        <p:nvSpPr>
          <p:cNvPr id="32" name="Shape 24"/>
          <p:cNvSpPr/>
          <p:nvPr/>
        </p:nvSpPr>
        <p:spPr>
          <a:xfrm>
            <a:off x="7924251" y="1419329"/>
            <a:ext cx="498521" cy="93934"/>
          </a:xfrm>
          <a:prstGeom prst="rect">
            <a:avLst/>
          </a:prstGeom>
          <a:noFill/>
          <a:ln/>
        </p:spPr>
      </p:sp>
      <p:pic>
        <p:nvPicPr>
          <p:cNvPr id="33" name="Image 6" descr="preencoded.png">    </p:cNvPr>
          <p:cNvPicPr>
            <a:picLocks noChangeAspect="1"/>
          </p:cNvPicPr>
          <p:nvPr/>
        </p:nvPicPr>
        <p:blipFill>
          <a:blip r:embed="rId7"/>
          <a:srcRect l="0" r="0" t="0" b="0"/>
          <a:stretch/>
        </p:blipFill>
        <p:spPr>
          <a:xfrm>
            <a:off x="7924251" y="1419329"/>
            <a:ext cx="93934" cy="93934"/>
          </a:xfrm>
          <a:prstGeom prst="rect">
            <a:avLst/>
          </a:prstGeom>
        </p:spPr>
      </p:pic>
      <p:sp>
        <p:nvSpPr>
          <p:cNvPr id="34" name="Shape 25"/>
          <p:cNvSpPr/>
          <p:nvPr/>
        </p:nvSpPr>
        <p:spPr>
          <a:xfrm>
            <a:off x="8065154" y="1419329"/>
            <a:ext cx="357620" cy="93934"/>
          </a:xfrm>
          <a:prstGeom prst="rect">
            <a:avLst/>
          </a:prstGeom>
          <a:noFill/>
          <a:ln/>
        </p:spPr>
      </p:sp>
      <p:sp>
        <p:nvSpPr>
          <p:cNvPr id="35" name="Text 26"/>
          <p:cNvSpPr/>
          <p:nvPr/>
        </p:nvSpPr>
        <p:spPr>
          <a:xfrm>
            <a:off x="8065154" y="1419329"/>
            <a:ext cx="357620" cy="93934"/>
          </a:xfrm>
          <a:prstGeom prst="rect">
            <a:avLst/>
          </a:prstGeom>
          <a:noFill/>
          <a:ln/>
        </p:spPr>
        <p:txBody>
          <a:bodyPr wrap="square" lIns="0" tIns="0" rIns="0" bIns="0" rtlCol="0" anchor="t"/>
          <a:lstStyle/>
          <a:p>
            <a:pPr algn="l" indent="0" marL="0">
              <a:lnSpc>
                <a:spcPts val="879"/>
              </a:lnSpc>
              <a:buNone/>
            </a:pPr>
            <a:r>
              <a:rPr lang="en-US" sz="615" dirty="0">
                <a:solidFill>
                  <a:srgbClr val="0A0A0A">
                    <a:alpha val="99000"/>
                  </a:srgbClr>
                </a:solidFill>
                <a:latin typeface="Arial" pitchFamily="34" charset="0"/>
                <a:ea typeface="Arial" pitchFamily="34" charset="-122"/>
                <a:cs typeface="Arial" pitchFamily="34" charset="-120"/>
              </a:rPr>
              <a:t>최종 납품</a:t>
            </a:r>
            <a:endParaRPr lang="en-US" sz="615" dirty="0"/>
          </a:p>
        </p:txBody>
      </p:sp>
      <p:sp>
        <p:nvSpPr>
          <p:cNvPr id="36" name="Shape 27"/>
          <p:cNvSpPr/>
          <p:nvPr/>
        </p:nvSpPr>
        <p:spPr>
          <a:xfrm>
            <a:off x="4771662" y="1785344"/>
            <a:ext cx="3822971" cy="3037551"/>
          </a:xfrm>
          <a:prstGeom prst="roundRect">
            <a:avLst>
              <a:gd name="adj" fmla="val 5197"/>
            </a:avLst>
          </a:prstGeom>
          <a:solidFill>
            <a:srgbClr val="FFFFFF"/>
          </a:solidFill>
          <a:ln w="4728">
            <a:solidFill>
              <a:srgbClr val="000000">
                <a:alpha val="10000"/>
              </a:srgbClr>
            </a:solidFill>
            <a:prstDash val="solid"/>
          </a:ln>
        </p:spPr>
      </p:sp>
      <p:sp>
        <p:nvSpPr>
          <p:cNvPr id="37" name="Shape 28"/>
          <p:cNvSpPr/>
          <p:nvPr/>
        </p:nvSpPr>
        <p:spPr>
          <a:xfrm>
            <a:off x="4776639" y="1790321"/>
            <a:ext cx="3813018" cy="3027598"/>
          </a:xfrm>
          <a:prstGeom prst="rect">
            <a:avLst/>
          </a:prstGeom>
          <a:noFill/>
          <a:ln/>
        </p:spPr>
      </p:sp>
      <p:sp>
        <p:nvSpPr>
          <p:cNvPr id="38" name="Shape 29"/>
          <p:cNvSpPr/>
          <p:nvPr/>
        </p:nvSpPr>
        <p:spPr>
          <a:xfrm>
            <a:off x="4775792" y="2077518"/>
            <a:ext cx="3817099" cy="2742438"/>
          </a:xfrm>
          <a:prstGeom prst="rect">
            <a:avLst/>
          </a:prstGeom>
          <a:noFill/>
          <a:ln/>
        </p:spPr>
      </p:sp>
      <p:pic>
        <p:nvPicPr>
          <p:cNvPr id="39" name="Image 7" descr="preencoded.png">    </p:cNvPr>
          <p:cNvPicPr>
            <a:picLocks noChangeAspect="1"/>
          </p:cNvPicPr>
          <p:nvPr/>
        </p:nvPicPr>
        <p:blipFill>
          <a:blip r:embed="rId8"/>
          <a:srcRect l="0" r="57681" t="0" b="0"/>
          <a:stretch/>
        </p:blipFill>
        <p:spPr>
          <a:xfrm>
            <a:off x="4775792" y="2077518"/>
            <a:ext cx="3813018" cy="239813"/>
          </a:xfrm>
          <a:prstGeom prst="rect">
            <a:avLst/>
          </a:prstGeom>
        </p:spPr>
      </p:pic>
      <p:pic>
        <p:nvPicPr>
          <p:cNvPr id="40" name="Image 8" descr="preencoded.png">    </p:cNvPr>
          <p:cNvPicPr>
            <a:picLocks noChangeAspect="1"/>
          </p:cNvPicPr>
          <p:nvPr/>
        </p:nvPicPr>
        <p:blipFill>
          <a:blip r:embed="rId9"/>
          <a:srcRect l="0" r="107" t="0" b="0"/>
          <a:stretch/>
        </p:blipFill>
        <p:spPr>
          <a:xfrm>
            <a:off x="4775792" y="2317331"/>
            <a:ext cx="3813018" cy="357309"/>
          </a:xfrm>
          <a:prstGeom prst="rect">
            <a:avLst/>
          </a:prstGeom>
        </p:spPr>
      </p:pic>
      <p:pic>
        <p:nvPicPr>
          <p:cNvPr id="41" name="Image 9" descr="preencoded.png">    </p:cNvPr>
          <p:cNvPicPr>
            <a:picLocks noChangeAspect="1"/>
          </p:cNvPicPr>
          <p:nvPr/>
        </p:nvPicPr>
        <p:blipFill>
          <a:blip r:embed="rId10"/>
          <a:srcRect l="0" r="107" t="0" b="0"/>
          <a:stretch/>
        </p:blipFill>
        <p:spPr>
          <a:xfrm>
            <a:off x="4775792" y="2674640"/>
            <a:ext cx="3813018" cy="357309"/>
          </a:xfrm>
          <a:prstGeom prst="rect">
            <a:avLst/>
          </a:prstGeom>
        </p:spPr>
      </p:pic>
      <p:pic>
        <p:nvPicPr>
          <p:cNvPr id="42" name="Image 10" descr="preencoded.png">    </p:cNvPr>
          <p:cNvPicPr>
            <a:picLocks noChangeAspect="1"/>
          </p:cNvPicPr>
          <p:nvPr/>
        </p:nvPicPr>
        <p:blipFill>
          <a:blip r:embed="rId11"/>
          <a:srcRect l="0" r="107" t="0" b="0"/>
          <a:stretch/>
        </p:blipFill>
        <p:spPr>
          <a:xfrm>
            <a:off x="4775792" y="3031949"/>
            <a:ext cx="3813018" cy="357309"/>
          </a:xfrm>
          <a:prstGeom prst="rect">
            <a:avLst/>
          </a:prstGeom>
        </p:spPr>
      </p:pic>
      <p:pic>
        <p:nvPicPr>
          <p:cNvPr id="43" name="Image 11" descr="preencoded.png">    </p:cNvPr>
          <p:cNvPicPr>
            <a:picLocks noChangeAspect="1"/>
          </p:cNvPicPr>
          <p:nvPr/>
        </p:nvPicPr>
        <p:blipFill>
          <a:blip r:embed="rId12"/>
          <a:srcRect l="0" r="107" t="0" b="0"/>
          <a:stretch/>
        </p:blipFill>
        <p:spPr>
          <a:xfrm>
            <a:off x="4775792" y="3389258"/>
            <a:ext cx="3813018" cy="357309"/>
          </a:xfrm>
          <a:prstGeom prst="rect">
            <a:avLst/>
          </a:prstGeom>
        </p:spPr>
      </p:pic>
      <p:pic>
        <p:nvPicPr>
          <p:cNvPr id="44" name="Image 12" descr="preencoded.png">    </p:cNvPr>
          <p:cNvPicPr>
            <a:picLocks noChangeAspect="1"/>
          </p:cNvPicPr>
          <p:nvPr/>
        </p:nvPicPr>
        <p:blipFill>
          <a:blip r:embed="rId13"/>
          <a:srcRect l="0" r="107" t="0" b="0"/>
          <a:stretch/>
        </p:blipFill>
        <p:spPr>
          <a:xfrm>
            <a:off x="4775792" y="3746567"/>
            <a:ext cx="3813018" cy="357309"/>
          </a:xfrm>
          <a:prstGeom prst="rect">
            <a:avLst/>
          </a:prstGeom>
        </p:spPr>
      </p:pic>
      <p:pic>
        <p:nvPicPr>
          <p:cNvPr id="45" name="Image 13" descr="preencoded.png">    </p:cNvPr>
          <p:cNvPicPr>
            <a:picLocks noChangeAspect="1"/>
          </p:cNvPicPr>
          <p:nvPr/>
        </p:nvPicPr>
        <p:blipFill>
          <a:blip r:embed="rId14"/>
          <a:srcRect l="0" r="107" t="0" b="0"/>
          <a:stretch/>
        </p:blipFill>
        <p:spPr>
          <a:xfrm>
            <a:off x="4775792" y="4103876"/>
            <a:ext cx="3813018" cy="357309"/>
          </a:xfrm>
          <a:prstGeom prst="rect">
            <a:avLst/>
          </a:prstGeom>
        </p:spPr>
      </p:pic>
      <p:pic>
        <p:nvPicPr>
          <p:cNvPr id="46" name="Image 14" descr="preencoded.png">    </p:cNvPr>
          <p:cNvPicPr>
            <a:picLocks noChangeAspect="1"/>
          </p:cNvPicPr>
          <p:nvPr/>
        </p:nvPicPr>
        <p:blipFill>
          <a:blip r:embed="rId15"/>
          <a:srcRect l="0" r="107" t="0" b="161"/>
          <a:stretch/>
        </p:blipFill>
        <p:spPr>
          <a:xfrm>
            <a:off x="4775792" y="4461185"/>
            <a:ext cx="3813018" cy="356734"/>
          </a:xfrm>
          <a:prstGeom prst="rect">
            <a:avLst/>
          </a:prstGeom>
        </p:spPr>
      </p:pic>
      <p:pic>
        <p:nvPicPr>
          <p:cNvPr id="47" name="Image 15" descr="preencoded.png">    </p:cNvPr>
          <p:cNvPicPr>
            <a:picLocks noChangeAspect="1"/>
          </p:cNvPicPr>
          <p:nvPr/>
        </p:nvPicPr>
        <p:blipFill>
          <a:blip r:embed="rId16"/>
          <a:srcRect l="0" r="57681" t="0" b="0"/>
          <a:stretch/>
        </p:blipFill>
        <p:spPr>
          <a:xfrm>
            <a:off x="4776639" y="1790321"/>
            <a:ext cx="3813018" cy="286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00300"/>
            <a:ext cx="3143250" cy="342900"/>
          </a:xfrm>
          <a:prstGeom prst="rect">
            <a:avLst/>
          </a:prstGeom>
          <a:noFill/>
          <a:ln/>
        </p:spPr>
        <p:txBody>
          <a:bodyPr wrap="square" lIns="0" tIns="0" rIns="0" bIns="0" rtlCol="0" anchor="ctr"/>
          <a:lstStyle/>
          <a:p>
            <a:pPr algn="l" marL="342900" indent="-342900">
              <a:lnSpc>
                <a:spcPts val="2565"/>
              </a:lnSpc>
              <a:buSzPct val="100000"/>
              <a:buFont typeface="+mj-lt"/>
              <a:buAutoNum type="arabicPeriod" startAt="1"/>
            </a:pPr>
            <a:r>
              <a:rPr lang="en-US" sz="2138" b="1" spc="-47" kern="0" dirty="0">
                <a:solidFill>
                  <a:srgbClr val="000000">
                    <a:alpha val="99000"/>
                  </a:srgbClr>
                </a:solidFill>
                <a:latin typeface="Paperlogy" pitchFamily="34" charset="0"/>
                <a:ea typeface="Paperlogy" pitchFamily="34" charset="-122"/>
                <a:cs typeface="Paperlogy" pitchFamily="34" charset="-120"/>
              </a:rPr>
              <a:t>타깃분석</a:t>
            </a:r>
            <a:endParaRPr lang="en-US" sz="213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609600" y="1309688"/>
            <a:ext cx="3810000" cy="2152650"/>
          </a:xfrm>
          <a:prstGeom prst="rect">
            <a:avLst/>
          </a:prstGeom>
        </p:spPr>
      </p:pic>
      <p:pic>
        <p:nvPicPr>
          <p:cNvPr id="4" name="Image 1" descr="preencoded.png">    </p:cNvPr>
          <p:cNvPicPr>
            <a:picLocks noChangeAspect="1"/>
          </p:cNvPicPr>
          <p:nvPr/>
        </p:nvPicPr>
        <p:blipFill>
          <a:blip r:embed="rId2"/>
          <a:srcRect l="0" r="0" t="0" b="0"/>
          <a:stretch/>
        </p:blipFill>
        <p:spPr>
          <a:xfrm>
            <a:off x="4724400" y="1309688"/>
            <a:ext cx="3810000" cy="2152650"/>
          </a:xfrm>
          <a:prstGeom prst="rect">
            <a:avLst/>
          </a:prstGeom>
        </p:spPr>
      </p:pic>
      <p:sp>
        <p:nvSpPr>
          <p:cNvPr id="5" name="Text 0"/>
          <p:cNvSpPr/>
          <p:nvPr/>
        </p:nvSpPr>
        <p:spPr>
          <a:xfrm>
            <a:off x="609600" y="609600"/>
            <a:ext cx="7543800" cy="276225"/>
          </a:xfrm>
          <a:prstGeom prst="rect">
            <a:avLst/>
          </a:prstGeom>
          <a:noFill/>
          <a:ln/>
        </p:spPr>
        <p:txBody>
          <a:bodyPr wrap="square" lIns="0" tIns="0" rIns="0" bIns="0" rtlCol="0" anchor="t"/>
          <a:lstStyle/>
          <a:p>
            <a:pPr algn="l" marL="342900" indent="-342900">
              <a:lnSpc>
                <a:spcPts val="2052"/>
              </a:lnSpc>
              <a:buSzPct val="100000"/>
              <a:buFont typeface="+mj-lt"/>
              <a:buAutoNum type="arabicPeriod" startAt="1"/>
            </a:pPr>
            <a:r>
              <a:rPr lang="en-US" sz="1710" b="1" spc="-34" kern="0" dirty="0">
                <a:solidFill>
                  <a:srgbClr val="000000">
                    <a:alpha val="99000"/>
                  </a:srgbClr>
                </a:solidFill>
                <a:latin typeface="Paperlogy" pitchFamily="34" charset="0"/>
                <a:ea typeface="Paperlogy" pitchFamily="34" charset="-122"/>
                <a:cs typeface="Paperlogy" pitchFamily="34" charset="-120"/>
              </a:rPr>
              <a:t>타깃분석</a:t>
            </a:r>
            <a:endParaRPr lang="en-US" sz="1710" dirty="0"/>
          </a:p>
        </p:txBody>
      </p:sp>
      <p:sp>
        <p:nvSpPr>
          <p:cNvPr id="6" name="Shape 1"/>
          <p:cNvSpPr/>
          <p:nvPr/>
        </p:nvSpPr>
        <p:spPr>
          <a:xfrm>
            <a:off x="609600" y="3652838"/>
            <a:ext cx="3810000" cy="457200"/>
          </a:xfrm>
          <a:prstGeom prst="rect">
            <a:avLst/>
          </a:prstGeom>
          <a:noFill/>
          <a:ln/>
        </p:spPr>
      </p:sp>
      <p:sp>
        <p:nvSpPr>
          <p:cNvPr id="7" name="Text 2"/>
          <p:cNvSpPr/>
          <p:nvPr/>
        </p:nvSpPr>
        <p:spPr>
          <a:xfrm>
            <a:off x="609600" y="3652838"/>
            <a:ext cx="3810000"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000000">
                    <a:alpha val="99000"/>
                  </a:srgbClr>
                </a:solidFill>
                <a:latin typeface="Paperlogy" pitchFamily="34" charset="0"/>
                <a:ea typeface="Paperlogy" pitchFamily="34" charset="-122"/>
                <a:cs typeface="Paperlogy" pitchFamily="34" charset="-120"/>
              </a:rPr>
              <a:t>연령/성별</a:t>
            </a:r>
            <a:endParaRPr lang="en-US" sz="1283" dirty="0"/>
          </a:p>
        </p:txBody>
      </p:sp>
      <p:sp>
        <p:nvSpPr>
          <p:cNvPr id="8" name="Text 3"/>
          <p:cNvSpPr/>
          <p:nvPr/>
        </p:nvSpPr>
        <p:spPr>
          <a:xfrm>
            <a:off x="609600" y="3957638"/>
            <a:ext cx="3810000" cy="152400"/>
          </a:xfrm>
          <a:prstGeom prst="rect">
            <a:avLst/>
          </a:prstGeom>
          <a:noFill/>
          <a:ln/>
        </p:spPr>
        <p:txBody>
          <a:bodyPr wrap="square" lIns="0" tIns="0" rIns="0" bIns="0" rtlCol="0" anchor="t"/>
          <a:lstStyle/>
          <a:p>
            <a:pPr algn="l" indent="0" marL="0">
              <a:lnSpc>
                <a:spcPts val="1146"/>
              </a:lnSpc>
              <a:buNone/>
            </a:pPr>
            <a:r>
              <a:rPr lang="en-US" sz="855" spc="-4" kern="0" dirty="0">
                <a:solidFill>
                  <a:srgbClr val="000000">
                    <a:alpha val="99000"/>
                  </a:srgbClr>
                </a:solidFill>
                <a:latin typeface="Paperlogy" pitchFamily="34" charset="0"/>
                <a:ea typeface="Paperlogy" pitchFamily="34" charset="-122"/>
                <a:cs typeface="Paperlogy" pitchFamily="34" charset="-120"/>
              </a:rPr>
              <a:t>30대 남녀</a:t>
            </a:r>
            <a:endParaRPr lang="en-US" sz="855" dirty="0"/>
          </a:p>
        </p:txBody>
      </p:sp>
      <p:sp>
        <p:nvSpPr>
          <p:cNvPr id="9" name="Shape 4"/>
          <p:cNvSpPr/>
          <p:nvPr/>
        </p:nvSpPr>
        <p:spPr>
          <a:xfrm>
            <a:off x="4724400" y="3652838"/>
            <a:ext cx="3810000" cy="457200"/>
          </a:xfrm>
          <a:prstGeom prst="rect">
            <a:avLst/>
          </a:prstGeom>
          <a:noFill/>
          <a:ln/>
        </p:spPr>
      </p:sp>
      <p:sp>
        <p:nvSpPr>
          <p:cNvPr id="10" name="Text 5"/>
          <p:cNvSpPr/>
          <p:nvPr/>
        </p:nvSpPr>
        <p:spPr>
          <a:xfrm>
            <a:off x="4724400" y="3652838"/>
            <a:ext cx="3810000"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000000">
                    <a:alpha val="99000"/>
                  </a:srgbClr>
                </a:solidFill>
                <a:latin typeface="Paperlogy" pitchFamily="34" charset="0"/>
                <a:ea typeface="Paperlogy" pitchFamily="34" charset="-122"/>
                <a:cs typeface="Paperlogy" pitchFamily="34" charset="-120"/>
              </a:rPr>
              <a:t>특 징</a:t>
            </a:r>
            <a:endParaRPr lang="en-US" sz="1283" dirty="0"/>
          </a:p>
        </p:txBody>
      </p:sp>
      <p:sp>
        <p:nvSpPr>
          <p:cNvPr id="11" name="Text 6"/>
          <p:cNvSpPr/>
          <p:nvPr/>
        </p:nvSpPr>
        <p:spPr>
          <a:xfrm>
            <a:off x="4724400" y="3957638"/>
            <a:ext cx="3810000" cy="152400"/>
          </a:xfrm>
          <a:prstGeom prst="rect">
            <a:avLst/>
          </a:prstGeom>
          <a:noFill/>
          <a:ln/>
        </p:spPr>
        <p:txBody>
          <a:bodyPr wrap="square" lIns="0" tIns="0" rIns="0" bIns="0" rtlCol="0" anchor="t"/>
          <a:lstStyle/>
          <a:p>
            <a:pPr algn="l" indent="0" marL="0">
              <a:lnSpc>
                <a:spcPts val="1146"/>
              </a:lnSpc>
              <a:buNone/>
            </a:pPr>
            <a:r>
              <a:rPr lang="en-US" sz="855" spc="-4" kern="0" dirty="0">
                <a:solidFill>
                  <a:srgbClr val="000000">
                    <a:alpha val="99000"/>
                  </a:srgbClr>
                </a:solidFill>
                <a:latin typeface="Paperlogy" pitchFamily="34" charset="0"/>
                <a:ea typeface="Paperlogy" pitchFamily="34" charset="-122"/>
                <a:cs typeface="Paperlogy" pitchFamily="34" charset="-120"/>
              </a:rPr>
              <a:t>합리적 소비를 지향하며 활발한 숏폼 시청자</a:t>
            </a:r>
            <a:endParaRPr lang="en-US" sz="855" dirty="0"/>
          </a:p>
        </p:txBody>
      </p:sp>
      <p:sp>
        <p:nvSpPr>
          <p:cNvPr id="12" name="Text 7"/>
          <p:cNvSpPr/>
          <p:nvPr/>
        </p:nvSpPr>
        <p:spPr>
          <a:xfrm>
            <a:off x="609600" y="4433888"/>
            <a:ext cx="3348038" cy="266700"/>
          </a:xfrm>
          <a:prstGeom prst="rect">
            <a:avLst/>
          </a:prstGeom>
          <a:noFill/>
          <a:ln/>
        </p:spPr>
        <p:txBody>
          <a:bodyPr wrap="square" lIns="0" tIns="0" rIns="0" bIns="0" rtlCol="0" anchor="t"/>
          <a:lstStyle/>
          <a:p>
            <a:pPr algn="l" indent="0" marL="0">
              <a:lnSpc>
                <a:spcPts val="998"/>
              </a:lnSpc>
              <a:buNone/>
            </a:pPr>
            <a:r>
              <a:rPr lang="en-US" sz="713" u="sng" dirty="0">
                <a:solidFill>
                  <a:srgbClr val="000000">
                    <a:alpha val="99000"/>
                  </a:srgbClr>
                </a:solidFill>
                <a:latin typeface="Paperlogy" pitchFamily="34" charset="0"/>
                <a:ea typeface="Paperlogy" pitchFamily="34" charset="-122"/>
                <a:cs typeface="Paperlogy"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https://www.trendmonitor.co.kr/tmweb/trend/allTrend/detail.do?bIdx=2437&amp;code=0201&amp;trendType=CKOREA</a:t>
            </a:r>
            <a:endParaRPr lang="en-US" sz="713" dirty="0"/>
          </a:p>
        </p:txBody>
      </p:sp>
      <p:sp>
        <p:nvSpPr>
          <p:cNvPr id="13" name="Text 8"/>
          <p:cNvSpPr/>
          <p:nvPr/>
        </p:nvSpPr>
        <p:spPr>
          <a:xfrm>
            <a:off x="4762500" y="4400550"/>
            <a:ext cx="4081463" cy="266700"/>
          </a:xfrm>
          <a:prstGeom prst="rect">
            <a:avLst/>
          </a:prstGeom>
          <a:noFill/>
          <a:ln/>
        </p:spPr>
        <p:txBody>
          <a:bodyPr wrap="square" lIns="0" tIns="0" rIns="0" bIns="0" rtlCol="0" anchor="t"/>
          <a:lstStyle/>
          <a:p>
            <a:pPr algn="l" indent="0" marL="0">
              <a:lnSpc>
                <a:spcPts val="998"/>
              </a:lnSpc>
              <a:buNone/>
            </a:pPr>
            <a:r>
              <a:rPr lang="en-US" sz="713" u="sng" dirty="0">
                <a:solidFill>
                  <a:srgbClr val="000000">
                    <a:alpha val="99000"/>
                  </a:srgbClr>
                </a:solidFill>
                <a:latin typeface="Paperlogy" pitchFamily="34" charset="0"/>
                <a:ea typeface="Paperlogy" pitchFamily="34" charset="-122"/>
                <a:cs typeface="Paperlogy"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https://www.trendmonitor.co.kr/tmweb/trend/etcTrend/detail.do?bIdx=76&amp;code=&amp;trendType=deepview</a:t>
            </a:r>
            <a:endParaRPr lang="en-US" sz="71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3476625" y="2295525"/>
            <a:ext cx="4676775" cy="547688"/>
          </a:xfrm>
          <a:prstGeom prst="rect">
            <a:avLst/>
          </a:prstGeom>
          <a:noFill/>
          <a:ln/>
        </p:spPr>
      </p:sp>
      <p:sp>
        <p:nvSpPr>
          <p:cNvPr id="4" name="Text 1"/>
          <p:cNvSpPr/>
          <p:nvPr/>
        </p:nvSpPr>
        <p:spPr>
          <a:xfrm>
            <a:off x="3476625" y="2295525"/>
            <a:ext cx="4676775"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alpha val="99000"/>
                  </a:srgbClr>
                </a:solidFill>
                <a:latin typeface="Paperlogy" pitchFamily="34" charset="0"/>
                <a:ea typeface="Paperlogy" pitchFamily="34" charset="-122"/>
                <a:cs typeface="Paperlogy" pitchFamily="34" charset="-120"/>
              </a:rPr>
              <a:t>삶은당근</a:t>
            </a:r>
            <a:endParaRPr lang="en-US" sz="3420" dirty="0"/>
          </a:p>
        </p:txBody>
      </p:sp>
      <p:sp>
        <p:nvSpPr>
          <p:cNvPr id="5" name="Text 2"/>
          <p:cNvSpPr/>
          <p:nvPr/>
        </p:nvSpPr>
        <p:spPr>
          <a:xfrm>
            <a:off x="609600" y="609600"/>
            <a:ext cx="7543800" cy="276225"/>
          </a:xfrm>
          <a:prstGeom prst="rect">
            <a:avLst/>
          </a:prstGeom>
          <a:noFill/>
          <a:ln/>
        </p:spPr>
        <p:txBody>
          <a:bodyPr wrap="square" lIns="0" tIns="0" rIns="0" bIns="0" rtlCol="0" anchor="t"/>
          <a:lstStyle/>
          <a:p>
            <a:pPr algn="l" marL="342900" indent="-342900">
              <a:lnSpc>
                <a:spcPts val="2052"/>
              </a:lnSpc>
              <a:buSzPct val="100000"/>
              <a:buFont typeface="+mj-lt"/>
              <a:buAutoNum type="arabicPeriod" startAt="1"/>
            </a:pPr>
            <a:r>
              <a:rPr lang="en-US" sz="1710" b="1" spc="-34" kern="0" dirty="0">
                <a:solidFill>
                  <a:srgbClr val="000000">
                    <a:alpha val="99000"/>
                  </a:srgbClr>
                </a:solidFill>
                <a:latin typeface="Paperlogy" pitchFamily="34" charset="0"/>
                <a:ea typeface="Paperlogy" pitchFamily="34" charset="-122"/>
                <a:cs typeface="Paperlogy" pitchFamily="34" charset="-120"/>
              </a:rPr>
              <a:t>슬로건 / 캐치프레이즈</a:t>
            </a:r>
            <a:endParaRPr lang="en-US" sz="17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09600" y="609600"/>
            <a:ext cx="7543800" cy="276225"/>
          </a:xfrm>
          <a:prstGeom prst="rect">
            <a:avLst/>
          </a:prstGeom>
          <a:noFill/>
          <a:ln/>
        </p:spPr>
        <p:txBody>
          <a:bodyPr wrap="square" lIns="0" tIns="0" rIns="0" bIns="0" rtlCol="0" anchor="t"/>
          <a:lstStyle/>
          <a:p>
            <a:pPr algn="l" marL="342900" indent="-342900">
              <a:lnSpc>
                <a:spcPts val="2052"/>
              </a:lnSpc>
              <a:buSzPct val="100000"/>
              <a:buFont typeface="+mj-lt"/>
              <a:buAutoNum type="arabicPeriod" startAt="1"/>
            </a:pPr>
            <a:r>
              <a:rPr lang="en-US" sz="1710" b="1" spc="-34" kern="0" dirty="0">
                <a:solidFill>
                  <a:srgbClr val="000000">
                    <a:alpha val="99000"/>
                  </a:srgbClr>
                </a:solidFill>
                <a:latin typeface="Paperlogy" pitchFamily="34" charset="0"/>
                <a:ea typeface="Paperlogy" pitchFamily="34" charset="-122"/>
                <a:cs typeface="Paperlogy" pitchFamily="34" charset="-120"/>
              </a:rPr>
              <a:t>콘셉트</a:t>
            </a:r>
            <a:endParaRPr lang="en-US" sz="1710" dirty="0"/>
          </a:p>
        </p:txBody>
      </p:sp>
      <p:pic>
        <p:nvPicPr>
          <p:cNvPr id="4" name="Image 0" descr="preencoded.png">    </p:cNvPr>
          <p:cNvPicPr>
            <a:picLocks noChangeAspect="1"/>
          </p:cNvPicPr>
          <p:nvPr/>
        </p:nvPicPr>
        <p:blipFill>
          <a:blip r:embed="rId1"/>
          <a:srcRect l="0" r="0" t="0" b="0"/>
          <a:stretch/>
        </p:blipFill>
        <p:spPr>
          <a:xfrm>
            <a:off x="6091238" y="2024062"/>
            <a:ext cx="2443163" cy="1004887"/>
          </a:xfrm>
          <a:prstGeom prst="rect">
            <a:avLst/>
          </a:prstGeom>
        </p:spPr>
      </p:pic>
      <p:sp>
        <p:nvSpPr>
          <p:cNvPr id="5" name="Shape 1"/>
          <p:cNvSpPr/>
          <p:nvPr/>
        </p:nvSpPr>
        <p:spPr>
          <a:xfrm>
            <a:off x="666750" y="2986088"/>
            <a:ext cx="6286500" cy="0"/>
          </a:xfrm>
          <a:prstGeom prst="rect">
            <a:avLst/>
          </a:prstGeom>
          <a:noFill/>
          <a:ln/>
        </p:spPr>
      </p:sp>
      <p:sp>
        <p:nvSpPr>
          <p:cNvPr id="6" name="Shape 2"/>
          <p:cNvSpPr/>
          <p:nvPr/>
        </p:nvSpPr>
        <p:spPr>
          <a:xfrm>
            <a:off x="666750" y="2986088"/>
            <a:ext cx="6286500" cy="0"/>
          </a:xfrm>
          <a:prstGeom prst="line">
            <a:avLst/>
          </a:prstGeom>
          <a:noFill/>
          <a:ln w="4524">
            <a:solidFill>
              <a:srgbClr val="EEEEEE"/>
            </a:solidFill>
            <a:prstDash val="solid"/>
          </a:ln>
        </p:spPr>
      </p:sp>
      <p:sp>
        <p:nvSpPr>
          <p:cNvPr id="7" name="Shape 3"/>
          <p:cNvSpPr/>
          <p:nvPr/>
        </p:nvSpPr>
        <p:spPr>
          <a:xfrm>
            <a:off x="609600" y="1200150"/>
            <a:ext cx="6286500" cy="1781175"/>
          </a:xfrm>
          <a:prstGeom prst="rect">
            <a:avLst/>
          </a:prstGeom>
          <a:noFill/>
          <a:ln/>
        </p:spPr>
      </p:sp>
      <p:sp>
        <p:nvSpPr>
          <p:cNvPr id="8" name="Text 4"/>
          <p:cNvSpPr/>
          <p:nvPr/>
        </p:nvSpPr>
        <p:spPr>
          <a:xfrm>
            <a:off x="609600" y="1200150"/>
            <a:ext cx="3048000" cy="195263"/>
          </a:xfrm>
          <a:prstGeom prst="rect">
            <a:avLst/>
          </a:prstGeom>
          <a:noFill/>
          <a:ln/>
        </p:spPr>
        <p:txBody>
          <a:bodyPr wrap="square" lIns="0" tIns="0" rIns="0" bIns="0" rtlCol="0" anchor="t"/>
          <a:lstStyle/>
          <a:p>
            <a:pPr algn="l"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Color</a:t>
            </a:r>
            <a:endParaRPr lang="en-US" sz="1069" dirty="0"/>
          </a:p>
        </p:txBody>
      </p:sp>
      <p:sp>
        <p:nvSpPr>
          <p:cNvPr id="9" name="Shape 5"/>
          <p:cNvSpPr/>
          <p:nvPr/>
        </p:nvSpPr>
        <p:spPr>
          <a:xfrm>
            <a:off x="609600" y="1676400"/>
            <a:ext cx="6286500" cy="1304925"/>
          </a:xfrm>
          <a:prstGeom prst="rect">
            <a:avLst/>
          </a:prstGeom>
          <a:noFill/>
          <a:ln/>
        </p:spPr>
      </p:sp>
      <p:sp>
        <p:nvSpPr>
          <p:cNvPr id="10" name="Shape 6"/>
          <p:cNvSpPr/>
          <p:nvPr/>
        </p:nvSpPr>
        <p:spPr>
          <a:xfrm>
            <a:off x="609600" y="1676400"/>
            <a:ext cx="3048000" cy="1304925"/>
          </a:xfrm>
          <a:prstGeom prst="rect">
            <a:avLst/>
          </a:prstGeom>
          <a:noFill/>
          <a:ln/>
        </p:spPr>
      </p:sp>
      <p:sp>
        <p:nvSpPr>
          <p:cNvPr id="11" name="Shape 7"/>
          <p:cNvSpPr/>
          <p:nvPr/>
        </p:nvSpPr>
        <p:spPr>
          <a:xfrm>
            <a:off x="609600" y="1676400"/>
            <a:ext cx="3048000" cy="104775"/>
          </a:xfrm>
          <a:prstGeom prst="rect">
            <a:avLst/>
          </a:prstGeom>
          <a:noFill/>
          <a:ln/>
        </p:spPr>
      </p:sp>
      <p:sp>
        <p:nvSpPr>
          <p:cNvPr id="12" name="Shape 8"/>
          <p:cNvSpPr/>
          <p:nvPr/>
        </p:nvSpPr>
        <p:spPr>
          <a:xfrm>
            <a:off x="609600" y="1676400"/>
            <a:ext cx="3048000" cy="104775"/>
          </a:xfrm>
          <a:prstGeom prst="rect">
            <a:avLst/>
          </a:prstGeom>
          <a:noFill/>
          <a:ln/>
        </p:spPr>
      </p:sp>
      <p:sp>
        <p:nvSpPr>
          <p:cNvPr id="13" name="Text 9"/>
          <p:cNvSpPr/>
          <p:nvPr/>
        </p:nvSpPr>
        <p:spPr>
          <a:xfrm>
            <a:off x="609600" y="1676400"/>
            <a:ext cx="309563" cy="104775"/>
          </a:xfrm>
          <a:prstGeom prst="rect">
            <a:avLst/>
          </a:prstGeom>
          <a:noFill/>
          <a:ln/>
        </p:spPr>
        <p:txBody>
          <a:bodyPr wrap="square" lIns="0" tIns="0" rIns="0" bIns="0" rtlCol="0" anchor="t"/>
          <a:lstStyle/>
          <a:p>
            <a:pPr algn="l" indent="0" marL="0">
              <a:lnSpc>
                <a:spcPts val="770"/>
              </a:lnSpc>
              <a:buNone/>
            </a:pPr>
            <a:r>
              <a:rPr lang="en-US" sz="641" b="1" dirty="0">
                <a:solidFill>
                  <a:srgbClr val="636363">
                    <a:alpha val="99000"/>
                  </a:srgbClr>
                </a:solidFill>
                <a:latin typeface="Urbanist" pitchFamily="34" charset="0"/>
                <a:ea typeface="Urbanist" pitchFamily="34" charset="-122"/>
                <a:cs typeface="Urbanist" pitchFamily="34" charset="-120"/>
              </a:rPr>
              <a:t>Primary</a:t>
            </a:r>
            <a:endParaRPr lang="en-US" sz="641" dirty="0"/>
          </a:p>
        </p:txBody>
      </p:sp>
      <p:sp>
        <p:nvSpPr>
          <p:cNvPr id="14" name="Text 10"/>
          <p:cNvSpPr/>
          <p:nvPr/>
        </p:nvSpPr>
        <p:spPr>
          <a:xfrm>
            <a:off x="3357563" y="1676400"/>
            <a:ext cx="300038" cy="104775"/>
          </a:xfrm>
          <a:prstGeom prst="rect">
            <a:avLst/>
          </a:prstGeom>
          <a:noFill/>
          <a:ln/>
        </p:spPr>
        <p:txBody>
          <a:bodyPr wrap="square" lIns="0" tIns="0" rIns="0" bIns="0" rtlCol="0" anchor="t"/>
          <a:lstStyle/>
          <a:p>
            <a:pPr algn="r" indent="0" marL="0">
              <a:lnSpc>
                <a:spcPts val="770"/>
              </a:lnSpc>
              <a:buNone/>
            </a:pPr>
            <a:r>
              <a:rPr lang="en-US" sz="641" dirty="0">
                <a:solidFill>
                  <a:srgbClr val="9E9E9E">
                    <a:alpha val="99000"/>
                  </a:srgbClr>
                </a:solidFill>
                <a:latin typeface="Source Sans Pro" pitchFamily="34" charset="0"/>
                <a:ea typeface="Source Sans Pro" pitchFamily="34" charset="-122"/>
                <a:cs typeface="Source Sans Pro" pitchFamily="34" charset="-120"/>
              </a:rPr>
              <a:t>#FF6803</a:t>
            </a:r>
            <a:endParaRPr lang="en-US" sz="641" dirty="0"/>
          </a:p>
        </p:txBody>
      </p:sp>
      <p:sp>
        <p:nvSpPr>
          <p:cNvPr id="15" name="Shape 11"/>
          <p:cNvSpPr/>
          <p:nvPr/>
        </p:nvSpPr>
        <p:spPr>
          <a:xfrm>
            <a:off x="609600" y="1838325"/>
            <a:ext cx="3048000" cy="1143000"/>
          </a:xfrm>
          <a:prstGeom prst="rect">
            <a:avLst/>
          </a:prstGeom>
          <a:noFill/>
          <a:ln/>
        </p:spPr>
      </p:sp>
      <p:sp>
        <p:nvSpPr>
          <p:cNvPr id="16" name="Shape 12"/>
          <p:cNvSpPr/>
          <p:nvPr/>
        </p:nvSpPr>
        <p:spPr>
          <a:xfrm>
            <a:off x="609600" y="1838325"/>
            <a:ext cx="3048000" cy="762000"/>
          </a:xfrm>
          <a:prstGeom prst="rect">
            <a:avLst/>
          </a:prstGeom>
          <a:solidFill>
            <a:srgbClr val="FF6803"/>
          </a:solidFill>
          <a:ln/>
        </p:spPr>
      </p:sp>
      <p:sp>
        <p:nvSpPr>
          <p:cNvPr id="17" name="Shape 13"/>
          <p:cNvSpPr/>
          <p:nvPr/>
        </p:nvSpPr>
        <p:spPr>
          <a:xfrm>
            <a:off x="609600" y="3114675"/>
            <a:ext cx="6286500" cy="1195388"/>
          </a:xfrm>
          <a:prstGeom prst="rect">
            <a:avLst/>
          </a:prstGeom>
          <a:noFill/>
          <a:ln/>
        </p:spPr>
      </p:sp>
      <p:sp>
        <p:nvSpPr>
          <p:cNvPr id="18" name="Text 14"/>
          <p:cNvSpPr/>
          <p:nvPr/>
        </p:nvSpPr>
        <p:spPr>
          <a:xfrm>
            <a:off x="609600" y="3114675"/>
            <a:ext cx="3048000" cy="195263"/>
          </a:xfrm>
          <a:prstGeom prst="rect">
            <a:avLst/>
          </a:prstGeom>
          <a:noFill/>
          <a:ln/>
        </p:spPr>
        <p:txBody>
          <a:bodyPr wrap="square" lIns="0" tIns="0" rIns="0" bIns="0" rtlCol="0" anchor="t"/>
          <a:lstStyle/>
          <a:p>
            <a:pPr algn="l" indent="0" marL="0">
              <a:lnSpc>
                <a:spcPts val="1453"/>
              </a:lnSpc>
              <a:buNone/>
            </a:pPr>
            <a:r>
              <a:rPr lang="en-US" sz="1069" spc="-11" kern="0" dirty="0">
                <a:solidFill>
                  <a:srgbClr val="000000">
                    <a:alpha val="99000"/>
                  </a:srgbClr>
                </a:solidFill>
                <a:latin typeface="Paperlogy" pitchFamily="34" charset="0"/>
                <a:ea typeface="Paperlogy" pitchFamily="34" charset="-122"/>
                <a:cs typeface="Paperlogy" pitchFamily="34" charset="-120"/>
              </a:rPr>
              <a:t>Shooting Style</a:t>
            </a:r>
            <a:endParaRPr lang="en-US" sz="1069" dirty="0"/>
          </a:p>
        </p:txBody>
      </p:sp>
      <p:sp>
        <p:nvSpPr>
          <p:cNvPr id="19" name="Shape 15"/>
          <p:cNvSpPr/>
          <p:nvPr/>
        </p:nvSpPr>
        <p:spPr>
          <a:xfrm>
            <a:off x="609600" y="3386138"/>
            <a:ext cx="6286500" cy="1304925"/>
          </a:xfrm>
          <a:prstGeom prst="rect">
            <a:avLst/>
          </a:prstGeom>
          <a:noFill/>
          <a:ln/>
        </p:spPr>
      </p:sp>
      <p:sp>
        <p:nvSpPr>
          <p:cNvPr id="20" name="Shape 16"/>
          <p:cNvSpPr/>
          <p:nvPr/>
        </p:nvSpPr>
        <p:spPr>
          <a:xfrm>
            <a:off x="609600" y="3386138"/>
            <a:ext cx="3048000" cy="1304925"/>
          </a:xfrm>
          <a:prstGeom prst="rect">
            <a:avLst/>
          </a:prstGeom>
          <a:noFill/>
          <a:ln/>
        </p:spPr>
      </p:sp>
      <p:sp>
        <p:nvSpPr>
          <p:cNvPr id="21" name="Shape 17"/>
          <p:cNvSpPr/>
          <p:nvPr/>
        </p:nvSpPr>
        <p:spPr>
          <a:xfrm>
            <a:off x="609600" y="3386138"/>
            <a:ext cx="3048000" cy="104775"/>
          </a:xfrm>
          <a:prstGeom prst="rect">
            <a:avLst/>
          </a:prstGeom>
          <a:noFill/>
          <a:ln/>
        </p:spPr>
      </p:sp>
      <p:pic>
        <p:nvPicPr>
          <p:cNvPr id="22" name="Image 1" descr="preencoded.png">    </p:cNvPr>
          <p:cNvPicPr>
            <a:picLocks noChangeAspect="1"/>
          </p:cNvPicPr>
          <p:nvPr/>
        </p:nvPicPr>
        <p:blipFill>
          <a:blip r:embed="rId2"/>
          <a:srcRect l="0" r="0" t="0" b="0"/>
          <a:stretch/>
        </p:blipFill>
        <p:spPr>
          <a:xfrm>
            <a:off x="609600" y="3386138"/>
            <a:ext cx="3048000" cy="104775"/>
          </a:xfrm>
          <a:prstGeom prst="rect">
            <a:avLst/>
          </a:prstGeom>
        </p:spPr>
      </p:pic>
      <p:sp>
        <p:nvSpPr>
          <p:cNvPr id="23" name="Shape 18"/>
          <p:cNvSpPr/>
          <p:nvPr/>
        </p:nvSpPr>
        <p:spPr>
          <a:xfrm>
            <a:off x="638175" y="3605213"/>
            <a:ext cx="3681413" cy="438150"/>
          </a:xfrm>
          <a:prstGeom prst="rect">
            <a:avLst/>
          </a:prstGeom>
          <a:noFill/>
          <a:ln/>
        </p:spPr>
      </p:sp>
      <p:sp>
        <p:nvSpPr>
          <p:cNvPr id="24" name="Shape 19"/>
          <p:cNvSpPr/>
          <p:nvPr/>
        </p:nvSpPr>
        <p:spPr>
          <a:xfrm>
            <a:off x="638175" y="3605213"/>
            <a:ext cx="1543050" cy="438150"/>
          </a:xfrm>
          <a:prstGeom prst="roundRect">
            <a:avLst>
              <a:gd name="adj" fmla="val 20870"/>
            </a:avLst>
          </a:prstGeom>
          <a:solidFill>
            <a:srgbClr val="FFFFFF"/>
          </a:solidFill>
          <a:ln w="4524">
            <a:solidFill>
              <a:srgbClr val="E9E9E9"/>
            </a:solidFill>
            <a:prstDash val="solid"/>
          </a:ln>
        </p:spPr>
      </p:sp>
      <p:sp>
        <p:nvSpPr>
          <p:cNvPr id="25" name="Text 20"/>
          <p:cNvSpPr/>
          <p:nvPr/>
        </p:nvSpPr>
        <p:spPr>
          <a:xfrm>
            <a:off x="876300" y="3748087"/>
            <a:ext cx="1066800" cy="152400"/>
          </a:xfrm>
          <a:prstGeom prst="rect">
            <a:avLst/>
          </a:prstGeom>
          <a:noFill/>
          <a:ln/>
        </p:spPr>
        <p:txBody>
          <a:bodyPr wrap="square" lIns="0" tIns="0" rIns="0" bIns="0" rtlCol="0" anchor="t"/>
          <a:lstStyle/>
          <a:p>
            <a:pPr algn="l" indent="0" marL="0">
              <a:lnSpc>
                <a:spcPts val="1146"/>
              </a:lnSpc>
              <a:buNone/>
            </a:pPr>
            <a:r>
              <a:rPr lang="en-US" sz="855" spc="-4" kern="0" dirty="0">
                <a:solidFill>
                  <a:srgbClr val="212121">
                    <a:alpha val="99000"/>
                  </a:srgbClr>
                </a:solidFill>
                <a:latin typeface="Paperlogy" pitchFamily="34" charset="0"/>
                <a:ea typeface="Paperlogy" pitchFamily="34" charset="-122"/>
                <a:cs typeface="Paperlogy" pitchFamily="34" charset="-120"/>
              </a:rPr>
              <a:t>Real Photography</a:t>
            </a:r>
            <a:endParaRPr lang="en-US" sz="855" dirty="0"/>
          </a:p>
        </p:txBody>
      </p:sp>
      <p:sp>
        <p:nvSpPr>
          <p:cNvPr id="26" name="Shape 21"/>
          <p:cNvSpPr/>
          <p:nvPr/>
        </p:nvSpPr>
        <p:spPr>
          <a:xfrm>
            <a:off x="2305050" y="3605213"/>
            <a:ext cx="2014538" cy="438150"/>
          </a:xfrm>
          <a:prstGeom prst="roundRect">
            <a:avLst>
              <a:gd name="adj" fmla="val 20870"/>
            </a:avLst>
          </a:prstGeom>
          <a:solidFill>
            <a:srgbClr val="FFFFFF"/>
          </a:solidFill>
          <a:ln w="4524">
            <a:solidFill>
              <a:srgbClr val="E9E9E9"/>
            </a:solidFill>
            <a:prstDash val="solid"/>
          </a:ln>
        </p:spPr>
      </p:sp>
      <p:sp>
        <p:nvSpPr>
          <p:cNvPr id="27" name="Text 22"/>
          <p:cNvSpPr/>
          <p:nvPr/>
        </p:nvSpPr>
        <p:spPr>
          <a:xfrm>
            <a:off x="2543175" y="3748087"/>
            <a:ext cx="1538288" cy="152400"/>
          </a:xfrm>
          <a:prstGeom prst="rect">
            <a:avLst/>
          </a:prstGeom>
          <a:noFill/>
          <a:ln/>
        </p:spPr>
        <p:txBody>
          <a:bodyPr wrap="square" lIns="0" tIns="0" rIns="0" bIns="0" rtlCol="0" anchor="t"/>
          <a:lstStyle/>
          <a:p>
            <a:pPr algn="l" indent="0" marL="0">
              <a:lnSpc>
                <a:spcPts val="1146"/>
              </a:lnSpc>
              <a:buNone/>
            </a:pPr>
            <a:r>
              <a:rPr lang="en-US" sz="855" spc="-4" kern="0" dirty="0">
                <a:solidFill>
                  <a:srgbClr val="212121">
                    <a:alpha val="99000"/>
                  </a:srgbClr>
                </a:solidFill>
                <a:latin typeface="Paperlogy" pitchFamily="34" charset="0"/>
                <a:ea typeface="Paperlogy" pitchFamily="34" charset="-122"/>
                <a:cs typeface="Paperlogy" pitchFamily="34" charset="-120"/>
              </a:rPr>
              <a:t>Smartphone Footage Style</a:t>
            </a:r>
            <a:endParaRPr lang="en-US" sz="85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09600" y="2295525"/>
            <a:ext cx="4676775" cy="547688"/>
          </a:xfrm>
          <a:prstGeom prst="rect">
            <a:avLst/>
          </a:prstGeom>
          <a:noFill/>
          <a:ln/>
        </p:spPr>
      </p:sp>
      <p:sp>
        <p:nvSpPr>
          <p:cNvPr id="4" name="Text 1"/>
          <p:cNvSpPr/>
          <p:nvPr/>
        </p:nvSpPr>
        <p:spPr>
          <a:xfrm>
            <a:off x="609600" y="2295525"/>
            <a:ext cx="4676775" cy="547688"/>
          </a:xfrm>
          <a:prstGeom prst="rect">
            <a:avLst/>
          </a:prstGeom>
          <a:noFill/>
          <a:ln/>
        </p:spPr>
        <p:txBody>
          <a:bodyPr wrap="square" lIns="0" tIns="0" rIns="0" bIns="0" rtlCol="0" anchor="t"/>
          <a:lstStyle/>
          <a:p>
            <a:pPr algn="l" marL="342900" indent="-342900">
              <a:lnSpc>
                <a:spcPts val="4104"/>
              </a:lnSpc>
              <a:buSzPct val="100000"/>
              <a:buFont typeface="+mj-lt"/>
              <a:buAutoNum type="arabicPeriod" startAt="1"/>
            </a:pPr>
            <a:r>
              <a:rPr lang="en-US" sz="3420" b="1" u="sng" spc="-68" kern="0" dirty="0">
                <a:solidFill>
                  <a:srgbClr val="000000">
                    <a:alpha val="99000"/>
                  </a:srgbClr>
                </a:solidFill>
                <a:latin typeface="Paperlogy" pitchFamily="34" charset="0"/>
                <a:ea typeface="Paperlogy" pitchFamily="34" charset="-122"/>
                <a:cs typeface="Paperlogy" pitchFamily="34" charset="-120"/>
                <a:hlinkClick r:id="rId1" invalidUrl="" action="" tgtFrame="" tooltip="" history="1" highlightClick="0" endSnd="0">
                  <a:extLst>
                    <a:ext uri="{A12FA001-AC4F-418D-AE19-62706E023703}">
                      <ahyp:hlinkClr xmlns:ahyp="http://schemas.microsoft.com/office/drawing/2018/hyperlinkcolor" val="tx"/>
                    </a:ext>
                  </a:extLst>
                </a:hlinkClick>
              </a:rPr>
              <a:t>스토리보드</a:t>
            </a:r>
            <a:endParaRPr lang="en-US" sz="3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00300"/>
            <a:ext cx="5715000" cy="547688"/>
          </a:xfrm>
          <a:prstGeom prst="rect">
            <a:avLst/>
          </a:prstGeom>
          <a:noFill/>
          <a:ln/>
        </p:spPr>
        <p:txBody>
          <a:bodyPr wrap="square" lIns="0" tIns="0" rIns="0" bIns="0" rtlCol="0" anchor="ctr"/>
          <a:lstStyle/>
          <a:p>
            <a:pPr algn="l" marL="342900" indent="-342900">
              <a:lnSpc>
                <a:spcPts val="4104"/>
              </a:lnSpc>
              <a:buSzPct val="100000"/>
              <a:buFont typeface="+mj-lt"/>
              <a:buAutoNum type="arabicPeriod" startAt="1"/>
            </a:pPr>
            <a:r>
              <a:rPr lang="en-US" sz="3420" b="1" u="sng" spc="-68" kern="0" dirty="0">
                <a:solidFill>
                  <a:srgbClr val="000000">
                    <a:alpha val="99000"/>
                  </a:srgbClr>
                </a:solidFill>
                <a:latin typeface="Paperlogy" pitchFamily="34" charset="0"/>
                <a:ea typeface="Paperlogy" pitchFamily="34" charset="-122"/>
                <a:cs typeface="Paperlogy" pitchFamily="34" charset="-120"/>
                <a:hlinkClick r:id="rId1" invalidUrl="" action="" tgtFrame="" tooltip="" history="1" highlightClick="0" endSnd="0">
                  <a:extLst>
                    <a:ext uri="{A12FA001-AC4F-418D-AE19-62706E023703}">
                      <ahyp:hlinkClr xmlns:ahyp="http://schemas.microsoft.com/office/drawing/2018/hyperlinkcolor" val="tx"/>
                    </a:ext>
                  </a:extLst>
                </a:hlinkClick>
              </a:rPr>
              <a:t>최종결과</a:t>
            </a:r>
            <a:endParaRPr lang="en-US" sz="34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2026-06-22T03:25:26Z</dcterms:created>
  <dcterms:modified xsi:type="dcterms:W3CDTF">2026-06-22T03:25:26Z</dcterms:modified>
</cp:coreProperties>
</file>